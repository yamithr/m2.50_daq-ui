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70021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848809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9990139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3912842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953928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52543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6585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30233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45007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587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1944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9432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326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6458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8020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922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68246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6863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184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4813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2945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5219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7875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06459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32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3832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413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3471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10570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4557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5008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5351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31484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0402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2780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73189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42227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3085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7521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498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32840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89046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354803" name="Shape 0"/>
          <p:cNvSpPr/>
          <p:nvPr/>
        </p:nvSpPr>
        <p:spPr bwMode="auto"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14817049" name="Shape 1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6006712" name="Shape 2"/>
          <p:cNvSpPr/>
          <p:nvPr/>
        </p:nvSpPr>
        <p:spPr bwMode="auto">
          <a:xfrm>
            <a:off x="320040" y="1371600"/>
            <a:ext cx="5303520" cy="2286000"/>
          </a:xfrm>
          <a:prstGeom prst="rect">
            <a:avLst/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29438738" name="Shape 3"/>
          <p:cNvSpPr/>
          <p:nvPr/>
        </p:nvSpPr>
        <p:spPr bwMode="auto">
          <a:xfrm>
            <a:off x="320040" y="1371600"/>
            <a:ext cx="73152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22809034" name="Text 4"/>
          <p:cNvSpPr/>
          <p:nvPr/>
        </p:nvSpPr>
        <p:spPr bwMode="auto">
          <a:xfrm>
            <a:off x="548640" y="15544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M2.50 DAQ-UI</a:t>
            </a:r>
            <a:endParaRPr lang="en-US" sz="4200"/>
          </a:p>
        </p:txBody>
      </p:sp>
      <p:sp>
        <p:nvSpPr>
          <p:cNvPr id="977041477" name="Text 5"/>
          <p:cNvSpPr/>
          <p:nvPr/>
        </p:nvSpPr>
        <p:spPr bwMode="auto">
          <a:xfrm>
            <a:off x="548640" y="23317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Sistema de Adquisición de Datos</a:t>
            </a:r>
            <a:endParaRPr lang="en-US" sz="1800"/>
          </a:p>
        </p:txBody>
      </p:sp>
      <p:sp>
        <p:nvSpPr>
          <p:cNvPr id="2086392947" name="Text 6"/>
          <p:cNvSpPr/>
          <p:nvPr/>
        </p:nvSpPr>
        <p:spPr bwMode="auto">
          <a:xfrm>
            <a:off x="548640" y="263347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Simulador de Combate Browning M2 .50 Cal.</a:t>
            </a:r>
            <a:endParaRPr lang="en-US" sz="1400"/>
          </a:p>
        </p:txBody>
      </p:sp>
      <p:sp>
        <p:nvSpPr>
          <p:cNvPr id="1886637625" name="Shape 7"/>
          <p:cNvSpPr/>
          <p:nvPr/>
        </p:nvSpPr>
        <p:spPr bwMode="auto">
          <a:xfrm>
            <a:off x="548640" y="3127248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30734175" name="Text 8"/>
          <p:cNvSpPr/>
          <p:nvPr/>
        </p:nvSpPr>
        <p:spPr bwMode="auto">
          <a:xfrm>
            <a:off x="548640" y="31272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ESP32-S3</a:t>
            </a:r>
            <a:endParaRPr lang="en-US" sz="900"/>
          </a:p>
        </p:txBody>
      </p:sp>
      <p:sp>
        <p:nvSpPr>
          <p:cNvPr id="1276676097" name="Shape 9"/>
          <p:cNvSpPr/>
          <p:nvPr/>
        </p:nvSpPr>
        <p:spPr bwMode="auto">
          <a:xfrm>
            <a:off x="1527048" y="3127248"/>
            <a:ext cx="1074420" cy="256032"/>
          </a:xfrm>
          <a:prstGeom prst="roundRect">
            <a:avLst>
              <a:gd name="adj" fmla="val 28571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33113291" name="Text 10"/>
          <p:cNvSpPr/>
          <p:nvPr/>
        </p:nvSpPr>
        <p:spPr bwMode="auto">
          <a:xfrm>
            <a:off x="1527048" y="3127248"/>
            <a:ext cx="1074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MicroPython</a:t>
            </a:r>
            <a:endParaRPr lang="en-US" sz="900"/>
          </a:p>
        </p:txBody>
      </p:sp>
      <p:sp>
        <p:nvSpPr>
          <p:cNvPr id="1296066857" name="Shape 13"/>
          <p:cNvSpPr/>
          <p:nvPr/>
        </p:nvSpPr>
        <p:spPr bwMode="auto">
          <a:xfrm>
            <a:off x="2831183" y="3127248"/>
            <a:ext cx="937260" cy="256032"/>
          </a:xfrm>
          <a:prstGeom prst="roundRect">
            <a:avLst>
              <a:gd name="adj" fmla="val 28571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64047105" name="Text 14"/>
          <p:cNvSpPr/>
          <p:nvPr/>
        </p:nvSpPr>
        <p:spPr bwMode="auto">
          <a:xfrm>
            <a:off x="2831183" y="3127248"/>
            <a:ext cx="937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Plotly.js</a:t>
            </a:r>
            <a:endParaRPr lang="en-US" sz="900"/>
          </a:p>
        </p:txBody>
      </p:sp>
      <p:sp>
        <p:nvSpPr>
          <p:cNvPr id="1060110261" name="Shape 15"/>
          <p:cNvSpPr/>
          <p:nvPr/>
        </p:nvSpPr>
        <p:spPr bwMode="auto">
          <a:xfrm>
            <a:off x="3940426" y="3127248"/>
            <a:ext cx="800100" cy="256032"/>
          </a:xfrm>
          <a:prstGeom prst="roundRect">
            <a:avLst>
              <a:gd name="adj" fmla="val 28571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561684668" name="Text 16"/>
          <p:cNvSpPr/>
          <p:nvPr/>
        </p:nvSpPr>
        <p:spPr bwMode="auto">
          <a:xfrm>
            <a:off x="3940426" y="3127248"/>
            <a:ext cx="800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USB HID</a:t>
            </a:r>
            <a:endParaRPr lang="en-US" sz="900"/>
          </a:p>
        </p:txBody>
      </p:sp>
      <p:sp>
        <p:nvSpPr>
          <p:cNvPr id="2036687469" name="Shape 29"/>
          <p:cNvSpPr/>
          <p:nvPr/>
        </p:nvSpPr>
        <p:spPr bwMode="auto">
          <a:xfrm>
            <a:off x="320040" y="4617720"/>
            <a:ext cx="850392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629684600" name="Text 30"/>
          <p:cNvSpPr/>
          <p:nvPr/>
        </p:nvSpPr>
        <p:spPr bwMode="auto">
          <a:xfrm>
            <a:off x="457200" y="461772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PROPÓSITO</a:t>
            </a:r>
            <a:endParaRPr lang="en-US" sz="800"/>
          </a:p>
        </p:txBody>
      </p:sp>
      <p:sp>
        <p:nvSpPr>
          <p:cNvPr id="954968951" name="Text 31"/>
          <p:cNvSpPr/>
          <p:nvPr/>
        </p:nvSpPr>
        <p:spPr bwMode="auto">
          <a:xfrm>
            <a:off x="1499616" y="461772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HARDWARE</a:t>
            </a:r>
            <a:endParaRPr lang="en-US" sz="800"/>
          </a:p>
        </p:txBody>
      </p:sp>
      <p:sp>
        <p:nvSpPr>
          <p:cNvPr id="966784689" name="Text 32"/>
          <p:cNvSpPr/>
          <p:nvPr/>
        </p:nvSpPr>
        <p:spPr bwMode="auto">
          <a:xfrm>
            <a:off x="2542032" y="461772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ARQUITECTURA</a:t>
            </a:r>
            <a:endParaRPr lang="en-US" sz="800"/>
          </a:p>
        </p:txBody>
      </p:sp>
      <p:sp>
        <p:nvSpPr>
          <p:cNvPr id="1524080361" name="Text 33"/>
          <p:cNvSpPr/>
          <p:nvPr/>
        </p:nvSpPr>
        <p:spPr bwMode="auto">
          <a:xfrm>
            <a:off x="3584448" y="461772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FIRMWARE</a:t>
            </a:r>
            <a:endParaRPr lang="en-US" sz="800"/>
          </a:p>
        </p:txBody>
      </p:sp>
      <p:sp>
        <p:nvSpPr>
          <p:cNvPr id="1113253899" name="Text 34"/>
          <p:cNvSpPr/>
          <p:nvPr/>
        </p:nvSpPr>
        <p:spPr bwMode="auto">
          <a:xfrm>
            <a:off x="4626864" y="461772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WEB UI</a:t>
            </a:r>
            <a:endParaRPr lang="en-US" sz="800"/>
          </a:p>
        </p:txBody>
      </p:sp>
      <p:sp>
        <p:nvSpPr>
          <p:cNvPr id="1119662974" name="Text 35"/>
          <p:cNvSpPr/>
          <p:nvPr/>
        </p:nvSpPr>
        <p:spPr bwMode="auto">
          <a:xfrm>
            <a:off x="5669280" y="461772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USB HID</a:t>
            </a:r>
            <a:endParaRPr lang="en-US" sz="800"/>
          </a:p>
        </p:txBody>
      </p:sp>
      <p:sp>
        <p:nvSpPr>
          <p:cNvPr id="1884884147" name="Text 36"/>
          <p:cNvSpPr/>
          <p:nvPr/>
        </p:nvSpPr>
        <p:spPr bwMode="auto">
          <a:xfrm>
            <a:off x="6711696" y="461772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SIMULACIÓN</a:t>
            </a:r>
            <a:endParaRPr lang="en-US" sz="800"/>
          </a:p>
        </p:txBody>
      </p:sp>
      <p:sp>
        <p:nvSpPr>
          <p:cNvPr id="2109447371" name="Text 37"/>
          <p:cNvSpPr/>
          <p:nvPr/>
        </p:nvSpPr>
        <p:spPr bwMode="auto">
          <a:xfrm>
            <a:off x="7754112" y="461772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ARRANQUE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07039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51791461" name="Text 1"/>
          <p:cNvSpPr/>
          <p:nvPr/>
        </p:nvSpPr>
        <p:spPr bwMode="auto"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PROPÓSITO DEL SISTEMA</a:t>
            </a:r>
            <a:endParaRPr lang="en-US" sz="2800"/>
          </a:p>
        </p:txBody>
      </p:sp>
      <p:sp>
        <p:nvSpPr>
          <p:cNvPr id="1174264907" name="Text 2"/>
          <p:cNvSpPr/>
          <p:nvPr/>
        </p:nvSpPr>
        <p:spPr bwMode="auto"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¿Qué hace y para qué sirve?</a:t>
            </a:r>
            <a:endParaRPr lang="en-US" sz="1300"/>
          </a:p>
        </p:txBody>
      </p:sp>
      <p:sp>
        <p:nvSpPr>
          <p:cNvPr id="593683868" name="Shape 3"/>
          <p:cNvSpPr/>
          <p:nvPr/>
        </p:nvSpPr>
        <p:spPr bwMode="auto">
          <a:xfrm>
            <a:off x="457200" y="1115568"/>
            <a:ext cx="8229600" cy="2286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600480631" name="Shape 4"/>
          <p:cNvSpPr/>
          <p:nvPr/>
        </p:nvSpPr>
        <p:spPr bwMode="auto">
          <a:xfrm>
            <a:off x="365760" y="1280160"/>
            <a:ext cx="4114800" cy="914400"/>
          </a:xfrm>
          <a:prstGeom prst="rect">
            <a:avLst/>
          </a:prstGeom>
          <a:solidFill>
            <a:srgbClr val="1B2B4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pic>
        <p:nvPicPr>
          <p:cNvPr id="132122129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1527048"/>
            <a:ext cx="347472" cy="347472"/>
          </a:xfrm>
          <a:prstGeom prst="rect">
            <a:avLst/>
          </a:prstGeom>
        </p:spPr>
      </p:pic>
      <p:sp>
        <p:nvSpPr>
          <p:cNvPr id="1344555266" name="Text 5"/>
          <p:cNvSpPr/>
          <p:nvPr/>
        </p:nvSpPr>
        <p:spPr bwMode="auto">
          <a:xfrm>
            <a:off x="1024128" y="1371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Captura de datos @ 50 Hz</a:t>
            </a:r>
            <a:endParaRPr lang="en-US" sz="1300"/>
          </a:p>
        </p:txBody>
      </p:sp>
      <p:sp>
        <p:nvSpPr>
          <p:cNvPr id="67077726" name="Text 6"/>
          <p:cNvSpPr/>
          <p:nvPr/>
        </p:nvSpPr>
        <p:spPr bwMode="auto">
          <a:xfrm>
            <a:off x="1024128" y="1737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3 sensores digitales de cerrojo (S1/S2/S3)</a:t>
            </a:r>
            <a:endParaRPr lang="en-US" sz="1050"/>
          </a:p>
        </p:txBody>
      </p:sp>
      <p:sp>
        <p:nvSpPr>
          <p:cNvPr id="1698739913" name="Shape 7"/>
          <p:cNvSpPr/>
          <p:nvPr/>
        </p:nvSpPr>
        <p:spPr bwMode="auto">
          <a:xfrm>
            <a:off x="365760" y="2304288"/>
            <a:ext cx="4114800" cy="914400"/>
          </a:xfrm>
          <a:prstGeom prst="rect">
            <a:avLst/>
          </a:prstGeom>
          <a:solidFill>
            <a:srgbClr val="1B2B4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pic>
        <p:nvPicPr>
          <p:cNvPr id="445120869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8640" y="2551176"/>
            <a:ext cx="347472" cy="347472"/>
          </a:xfrm>
          <a:prstGeom prst="rect">
            <a:avLst/>
          </a:prstGeom>
        </p:spPr>
      </p:pic>
      <p:sp>
        <p:nvSpPr>
          <p:cNvPr id="451821019" name="Text 8"/>
          <p:cNvSpPr/>
          <p:nvPr/>
        </p:nvSpPr>
        <p:spPr bwMode="auto">
          <a:xfrm>
            <a:off x="1024128" y="23957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Orientación 3D en tiempo real</a:t>
            </a:r>
            <a:endParaRPr lang="en-US" sz="1300"/>
          </a:p>
        </p:txBody>
      </p:sp>
      <p:sp>
        <p:nvSpPr>
          <p:cNvPr id="1884318809" name="Text 9"/>
          <p:cNvSpPr/>
          <p:nvPr/>
        </p:nvSpPr>
        <p:spPr bwMode="auto">
          <a:xfrm>
            <a:off x="1024128" y="27614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IMU GY-89: roll, pitch y yaw </a:t>
            </a:r>
            <a:endParaRPr lang="en-US" sz="1050"/>
          </a:p>
        </p:txBody>
      </p:sp>
      <p:sp>
        <p:nvSpPr>
          <p:cNvPr id="1658195346" name="Shape 10"/>
          <p:cNvSpPr/>
          <p:nvPr/>
        </p:nvSpPr>
        <p:spPr bwMode="auto">
          <a:xfrm>
            <a:off x="365760" y="3328416"/>
            <a:ext cx="4114800" cy="914400"/>
          </a:xfrm>
          <a:prstGeom prst="rect">
            <a:avLst/>
          </a:prstGeom>
          <a:solidFill>
            <a:srgbClr val="1B2B4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pic>
        <p:nvPicPr>
          <p:cNvPr id="1669249220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48640" y="3575303"/>
            <a:ext cx="347472" cy="347472"/>
          </a:xfrm>
          <a:prstGeom prst="rect">
            <a:avLst/>
          </a:prstGeom>
        </p:spPr>
      </p:pic>
      <p:sp>
        <p:nvSpPr>
          <p:cNvPr id="1458834012" name="Text 11"/>
          <p:cNvSpPr/>
          <p:nvPr/>
        </p:nvSpPr>
        <p:spPr bwMode="auto">
          <a:xfrm>
            <a:off x="1024128" y="34198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Transmisión inalámbrica</a:t>
            </a:r>
            <a:endParaRPr lang="en-US" sz="1300"/>
          </a:p>
        </p:txBody>
      </p:sp>
      <p:sp>
        <p:nvSpPr>
          <p:cNvPr id="2077390914" name="Text 12"/>
          <p:cNvSpPr/>
          <p:nvPr/>
        </p:nvSpPr>
        <p:spPr bwMode="auto">
          <a:xfrm>
            <a:off x="1024128" y="37856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WebSocket WiFi → navegador web sin latencia perceptible</a:t>
            </a:r>
            <a:endParaRPr lang="en-US" sz="1050"/>
          </a:p>
        </p:txBody>
      </p:sp>
      <p:sp>
        <p:nvSpPr>
          <p:cNvPr id="1903748268" name="Shape 13"/>
          <p:cNvSpPr/>
          <p:nvPr/>
        </p:nvSpPr>
        <p:spPr bwMode="auto">
          <a:xfrm>
            <a:off x="4663440" y="1280160"/>
            <a:ext cx="4114800" cy="914400"/>
          </a:xfrm>
          <a:prstGeom prst="rect">
            <a:avLst/>
          </a:prstGeom>
          <a:solidFill>
            <a:srgbClr val="1B2B4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pic>
        <p:nvPicPr>
          <p:cNvPr id="1154955287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846320" y="1527048"/>
            <a:ext cx="347472" cy="347472"/>
          </a:xfrm>
          <a:prstGeom prst="rect">
            <a:avLst/>
          </a:prstGeom>
        </p:spPr>
      </p:pic>
      <p:sp>
        <p:nvSpPr>
          <p:cNvPr id="773810429" name="Text 14"/>
          <p:cNvSpPr/>
          <p:nvPr/>
        </p:nvSpPr>
        <p:spPr bwMode="auto">
          <a:xfrm>
            <a:off x="5321808" y="1371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Control de cursor PC</a:t>
            </a:r>
            <a:endParaRPr lang="en-US" sz="1300"/>
          </a:p>
        </p:txBody>
      </p:sp>
      <p:sp>
        <p:nvSpPr>
          <p:cNvPr id="354428250" name="Text 15"/>
          <p:cNvSpPr/>
          <p:nvPr/>
        </p:nvSpPr>
        <p:spPr bwMode="auto">
          <a:xfrm>
            <a:off x="5321808" y="1737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Encoders H/V → mouse HID absoluto USB OTG</a:t>
            </a:r>
            <a:endParaRPr lang="en-US" sz="1050"/>
          </a:p>
        </p:txBody>
      </p:sp>
      <p:sp>
        <p:nvSpPr>
          <p:cNvPr id="1053694139" name="Shape 16"/>
          <p:cNvSpPr/>
          <p:nvPr/>
        </p:nvSpPr>
        <p:spPr bwMode="auto">
          <a:xfrm>
            <a:off x="4663440" y="2304288"/>
            <a:ext cx="4114800" cy="914400"/>
          </a:xfrm>
          <a:prstGeom prst="rect">
            <a:avLst/>
          </a:prstGeom>
          <a:solidFill>
            <a:srgbClr val="1B2B4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pic>
        <p:nvPicPr>
          <p:cNvPr id="673565788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4846320" y="2551176"/>
            <a:ext cx="347472" cy="347472"/>
          </a:xfrm>
          <a:prstGeom prst="rect">
            <a:avLst/>
          </a:prstGeom>
        </p:spPr>
      </p:pic>
      <p:sp>
        <p:nvSpPr>
          <p:cNvPr id="1063592453" name="Text 17"/>
          <p:cNvSpPr/>
          <p:nvPr/>
        </p:nvSpPr>
        <p:spPr bwMode="auto">
          <a:xfrm>
            <a:off x="5321808" y="23957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Análisis de cadencia de fuego</a:t>
            </a:r>
            <a:endParaRPr lang="en-US" sz="1300"/>
          </a:p>
        </p:txBody>
      </p:sp>
      <p:sp>
        <p:nvSpPr>
          <p:cNvPr id="34879315" name="Text 18"/>
          <p:cNvSpPr/>
          <p:nvPr/>
        </p:nvSpPr>
        <p:spPr bwMode="auto">
          <a:xfrm>
            <a:off x="5321808" y="27614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Gráficas rolling Plotly.js, buffer 60 s configurable</a:t>
            </a:r>
            <a:endParaRPr lang="en-US" sz="1050"/>
          </a:p>
        </p:txBody>
      </p:sp>
      <p:sp>
        <p:nvSpPr>
          <p:cNvPr id="1115228758" name="Shape 19"/>
          <p:cNvSpPr/>
          <p:nvPr/>
        </p:nvSpPr>
        <p:spPr bwMode="auto">
          <a:xfrm>
            <a:off x="4663440" y="3328416"/>
            <a:ext cx="4114800" cy="914400"/>
          </a:xfrm>
          <a:prstGeom prst="rect">
            <a:avLst/>
          </a:prstGeom>
          <a:solidFill>
            <a:srgbClr val="1B2B4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pic>
        <p:nvPicPr>
          <p:cNvPr id="1604878684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4846320" y="3575303"/>
            <a:ext cx="347472" cy="347472"/>
          </a:xfrm>
          <a:prstGeom prst="rect">
            <a:avLst/>
          </a:prstGeom>
        </p:spPr>
      </p:pic>
      <p:sp>
        <p:nvSpPr>
          <p:cNvPr id="1203915330" name="Text 20"/>
          <p:cNvSpPr/>
          <p:nvPr/>
        </p:nvSpPr>
        <p:spPr bwMode="auto">
          <a:xfrm>
            <a:off x="5321808" y="34198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Sin hardware requerido</a:t>
            </a:r>
            <a:endParaRPr lang="en-US" sz="1300"/>
          </a:p>
        </p:txBody>
      </p:sp>
      <p:sp>
        <p:nvSpPr>
          <p:cNvPr id="195622752" name="Text 21"/>
          <p:cNvSpPr/>
          <p:nvPr/>
        </p:nvSpPr>
        <p:spPr bwMode="auto">
          <a:xfrm>
            <a:off x="5321808" y="37856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Modo simulado integrado — dashboard  funcional offline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453030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53097610" name="Text 1"/>
          <p:cNvSpPr/>
          <p:nvPr/>
        </p:nvSpPr>
        <p:spPr bwMode="auto"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HARDWARE</a:t>
            </a:r>
            <a:endParaRPr lang="en-US" sz="2800"/>
          </a:p>
        </p:txBody>
      </p:sp>
      <p:sp>
        <p:nvSpPr>
          <p:cNvPr id="987010563" name="Text 2"/>
          <p:cNvSpPr/>
          <p:nvPr/>
        </p:nvSpPr>
        <p:spPr bwMode="auto"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Componentes físicos del sistema</a:t>
            </a:r>
            <a:endParaRPr lang="en-US" sz="1300"/>
          </a:p>
        </p:txBody>
      </p:sp>
      <p:sp>
        <p:nvSpPr>
          <p:cNvPr id="1645369865" name="Shape 3"/>
          <p:cNvSpPr/>
          <p:nvPr/>
        </p:nvSpPr>
        <p:spPr bwMode="auto">
          <a:xfrm>
            <a:off x="457200" y="111556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8838014" name="Shape 4"/>
          <p:cNvSpPr/>
          <p:nvPr/>
        </p:nvSpPr>
        <p:spPr bwMode="auto">
          <a:xfrm>
            <a:off x="274320" y="1261872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424409349" name="Shape 5"/>
          <p:cNvSpPr/>
          <p:nvPr/>
        </p:nvSpPr>
        <p:spPr bwMode="auto">
          <a:xfrm>
            <a:off x="274320" y="1261872"/>
            <a:ext cx="64008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32498465" name="Shape 6"/>
          <p:cNvSpPr/>
          <p:nvPr/>
        </p:nvSpPr>
        <p:spPr bwMode="auto">
          <a:xfrm>
            <a:off x="411480" y="1353312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20704936" name="Text 7"/>
          <p:cNvSpPr/>
          <p:nvPr/>
        </p:nvSpPr>
        <p:spPr bwMode="auto">
          <a:xfrm>
            <a:off x="411480" y="135331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MCU</a:t>
            </a:r>
            <a:endParaRPr lang="en-US" sz="900"/>
          </a:p>
        </p:txBody>
      </p:sp>
      <p:sp>
        <p:nvSpPr>
          <p:cNvPr id="1438685712" name="Text 8"/>
          <p:cNvSpPr/>
          <p:nvPr/>
        </p:nvSpPr>
        <p:spPr bwMode="auto">
          <a:xfrm>
            <a:off x="1024128" y="13350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ESP32-S3 DevKitC-1 v1.1 N16R8</a:t>
            </a:r>
            <a:endParaRPr lang="en-US" sz="1300"/>
          </a:p>
        </p:txBody>
      </p:sp>
      <p:sp>
        <p:nvSpPr>
          <p:cNvPr id="178065352" name="Text 9"/>
          <p:cNvSpPr/>
          <p:nvPr/>
        </p:nvSpPr>
        <p:spPr bwMode="auto">
          <a:xfrm>
            <a:off x="411480" y="1700784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240 MHz · 16 MB Flash · 8 MB PSRAM · WiFi 802.11 · USB OTG</a:t>
            </a:r>
            <a:endParaRPr lang="en-US" sz="1050"/>
          </a:p>
        </p:txBody>
      </p:sp>
      <p:sp>
        <p:nvSpPr>
          <p:cNvPr id="1127058271" name="Shape 10"/>
          <p:cNvSpPr/>
          <p:nvPr/>
        </p:nvSpPr>
        <p:spPr bwMode="auto">
          <a:xfrm>
            <a:off x="4709160" y="1261872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23016966" name="Shape 11"/>
          <p:cNvSpPr/>
          <p:nvPr/>
        </p:nvSpPr>
        <p:spPr bwMode="auto">
          <a:xfrm>
            <a:off x="4709160" y="1261872"/>
            <a:ext cx="64008" cy="10241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20891518" name="Shape 12"/>
          <p:cNvSpPr/>
          <p:nvPr/>
        </p:nvSpPr>
        <p:spPr bwMode="auto">
          <a:xfrm>
            <a:off x="4846320" y="1353312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5890874" name="Text 13"/>
          <p:cNvSpPr/>
          <p:nvPr/>
        </p:nvSpPr>
        <p:spPr bwMode="auto">
          <a:xfrm>
            <a:off x="4846320" y="135331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IMU</a:t>
            </a:r>
            <a:endParaRPr lang="en-US" sz="900"/>
          </a:p>
        </p:txBody>
      </p:sp>
      <p:sp>
        <p:nvSpPr>
          <p:cNvPr id="1002503754" name="Text 14"/>
          <p:cNvSpPr/>
          <p:nvPr/>
        </p:nvSpPr>
        <p:spPr bwMode="auto">
          <a:xfrm>
            <a:off x="5458968" y="13350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GY-89 10DOF</a:t>
            </a:r>
            <a:endParaRPr lang="en-US" sz="1300"/>
          </a:p>
        </p:txBody>
      </p:sp>
      <p:sp>
        <p:nvSpPr>
          <p:cNvPr id="28325199" name="Text 15"/>
          <p:cNvSpPr/>
          <p:nvPr/>
        </p:nvSpPr>
        <p:spPr bwMode="auto">
          <a:xfrm>
            <a:off x="4846320" y="1700784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L3GD20 giróscopo (0x6B) · LSM303D accel+mag (0x1E) · I2C 400 kHz (SDA=8, SCL=9)</a:t>
            </a:r>
            <a:endParaRPr lang="en-US" sz="1050"/>
          </a:p>
        </p:txBody>
      </p:sp>
      <p:sp>
        <p:nvSpPr>
          <p:cNvPr id="2131303283" name="Shape 16"/>
          <p:cNvSpPr/>
          <p:nvPr/>
        </p:nvSpPr>
        <p:spPr bwMode="auto">
          <a:xfrm>
            <a:off x="274320" y="2404872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522452656" name="Shape 17"/>
          <p:cNvSpPr/>
          <p:nvPr/>
        </p:nvSpPr>
        <p:spPr bwMode="auto">
          <a:xfrm>
            <a:off x="274320" y="2404872"/>
            <a:ext cx="64008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53697848" name="Shape 18"/>
          <p:cNvSpPr/>
          <p:nvPr/>
        </p:nvSpPr>
        <p:spPr bwMode="auto">
          <a:xfrm>
            <a:off x="411480" y="2496312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6947723" name="Text 19"/>
          <p:cNvSpPr/>
          <p:nvPr/>
        </p:nvSpPr>
        <p:spPr bwMode="auto">
          <a:xfrm>
            <a:off x="411480" y="249631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ENC×2</a:t>
            </a:r>
            <a:endParaRPr lang="en-US" sz="900"/>
          </a:p>
        </p:txBody>
      </p:sp>
      <p:sp>
        <p:nvSpPr>
          <p:cNvPr id="299578847" name="Text 20"/>
          <p:cNvSpPr/>
          <p:nvPr/>
        </p:nvSpPr>
        <p:spPr bwMode="auto">
          <a:xfrm>
            <a:off x="1024128" y="24780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Encoders Incrementales</a:t>
            </a:r>
            <a:endParaRPr lang="en-US" sz="1300"/>
          </a:p>
        </p:txBody>
      </p:sp>
      <p:sp>
        <p:nvSpPr>
          <p:cNvPr id="43343558" name="Text 21"/>
          <p:cNvSpPr/>
          <p:nvPr/>
        </p:nvSpPr>
        <p:spPr bwMode="auto">
          <a:xfrm>
            <a:off x="411480" y="2843784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Cuadratura A+B · Horizontal GPIO 4,5 · Vertical GPIO 6,7</a:t>
            </a:r>
            <a:endParaRPr lang="en-US" sz="1050"/>
          </a:p>
        </p:txBody>
      </p:sp>
      <p:sp>
        <p:nvSpPr>
          <p:cNvPr id="1343701442" name="Shape 22"/>
          <p:cNvSpPr/>
          <p:nvPr/>
        </p:nvSpPr>
        <p:spPr bwMode="auto">
          <a:xfrm>
            <a:off x="4709160" y="2404872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3091752" name="Shape 23"/>
          <p:cNvSpPr/>
          <p:nvPr/>
        </p:nvSpPr>
        <p:spPr bwMode="auto">
          <a:xfrm>
            <a:off x="4709160" y="2404872"/>
            <a:ext cx="64008" cy="10241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10672565" name="Shape 24"/>
          <p:cNvSpPr/>
          <p:nvPr/>
        </p:nvSpPr>
        <p:spPr bwMode="auto">
          <a:xfrm>
            <a:off x="4846320" y="2496312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99279587" name="Text 25"/>
          <p:cNvSpPr/>
          <p:nvPr/>
        </p:nvSpPr>
        <p:spPr bwMode="auto">
          <a:xfrm>
            <a:off x="4846320" y="249631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S1</a:t>
            </a:r>
            <a:endParaRPr lang="en-US" sz="900"/>
          </a:p>
        </p:txBody>
      </p:sp>
      <p:sp>
        <p:nvSpPr>
          <p:cNvPr id="184364430" name="Text 26"/>
          <p:cNvSpPr/>
          <p:nvPr/>
        </p:nvSpPr>
        <p:spPr bwMode="auto">
          <a:xfrm>
            <a:off x="5458968" y="24780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Sensor BLOQUEADO</a:t>
            </a:r>
            <a:endParaRPr lang="en-US" sz="1300"/>
          </a:p>
        </p:txBody>
      </p:sp>
      <p:sp>
        <p:nvSpPr>
          <p:cNvPr id="1642356660" name="Text 27"/>
          <p:cNvSpPr/>
          <p:nvPr/>
        </p:nvSpPr>
        <p:spPr bwMode="auto">
          <a:xfrm>
            <a:off x="4846320" y="2843784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Activo-bajo · Pull-up interno · GPIO 15</a:t>
            </a:r>
            <a:endParaRPr lang="en-US" sz="1050"/>
          </a:p>
        </p:txBody>
      </p:sp>
      <p:sp>
        <p:nvSpPr>
          <p:cNvPr id="2099029693" name="Shape 28"/>
          <p:cNvSpPr/>
          <p:nvPr/>
        </p:nvSpPr>
        <p:spPr bwMode="auto">
          <a:xfrm>
            <a:off x="274320" y="3547872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118765683" name="Shape 29"/>
          <p:cNvSpPr/>
          <p:nvPr/>
        </p:nvSpPr>
        <p:spPr bwMode="auto">
          <a:xfrm>
            <a:off x="274320" y="3547872"/>
            <a:ext cx="64008" cy="10241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19161671" name="Shape 30"/>
          <p:cNvSpPr/>
          <p:nvPr/>
        </p:nvSpPr>
        <p:spPr bwMode="auto">
          <a:xfrm>
            <a:off x="411480" y="3639312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02755750" name="Text 31"/>
          <p:cNvSpPr/>
          <p:nvPr/>
        </p:nvSpPr>
        <p:spPr bwMode="auto">
          <a:xfrm>
            <a:off x="411480" y="363931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S2</a:t>
            </a:r>
            <a:endParaRPr lang="en-US" sz="900"/>
          </a:p>
        </p:txBody>
      </p:sp>
      <p:sp>
        <p:nvSpPr>
          <p:cNvPr id="1469144450" name="Text 32"/>
          <p:cNvSpPr/>
          <p:nvPr/>
        </p:nvSpPr>
        <p:spPr bwMode="auto">
          <a:xfrm>
            <a:off x="1024128" y="36210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Sensor RETENEDOR</a:t>
            </a:r>
            <a:endParaRPr lang="en-US" sz="1300"/>
          </a:p>
        </p:txBody>
      </p:sp>
      <p:sp>
        <p:nvSpPr>
          <p:cNvPr id="410368091" name="Text 33"/>
          <p:cNvSpPr/>
          <p:nvPr/>
        </p:nvSpPr>
        <p:spPr bwMode="auto">
          <a:xfrm>
            <a:off x="411480" y="3986784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Activo-bajo · Pull-up interno · GPIO 16</a:t>
            </a:r>
            <a:endParaRPr lang="en-US" sz="1050"/>
          </a:p>
        </p:txBody>
      </p:sp>
      <p:sp>
        <p:nvSpPr>
          <p:cNvPr id="1640334449" name="Shape 34"/>
          <p:cNvSpPr/>
          <p:nvPr/>
        </p:nvSpPr>
        <p:spPr bwMode="auto">
          <a:xfrm>
            <a:off x="4709160" y="3547872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962880081" name="Shape 35"/>
          <p:cNvSpPr/>
          <p:nvPr/>
        </p:nvSpPr>
        <p:spPr bwMode="auto">
          <a:xfrm>
            <a:off x="4709160" y="3547872"/>
            <a:ext cx="64008" cy="10241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37056212" name="Shape 36"/>
          <p:cNvSpPr/>
          <p:nvPr/>
        </p:nvSpPr>
        <p:spPr bwMode="auto">
          <a:xfrm>
            <a:off x="4846320" y="3639312"/>
            <a:ext cx="530352" cy="219456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82830604" name="Text 37"/>
          <p:cNvSpPr/>
          <p:nvPr/>
        </p:nvSpPr>
        <p:spPr bwMode="auto">
          <a:xfrm>
            <a:off x="4846320" y="363931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S3</a:t>
            </a:r>
            <a:endParaRPr lang="en-US" sz="900"/>
          </a:p>
        </p:txBody>
      </p:sp>
      <p:sp>
        <p:nvSpPr>
          <p:cNvPr id="1046449859" name="Text 38"/>
          <p:cNvSpPr/>
          <p:nvPr/>
        </p:nvSpPr>
        <p:spPr bwMode="auto">
          <a:xfrm>
            <a:off x="5458968" y="36210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Sensor VÁLVULA / DISPARO</a:t>
            </a:r>
            <a:endParaRPr lang="en-US" sz="1300"/>
          </a:p>
        </p:txBody>
      </p:sp>
      <p:sp>
        <p:nvSpPr>
          <p:cNvPr id="1787179823" name="Text 39"/>
          <p:cNvSpPr/>
          <p:nvPr/>
        </p:nvSpPr>
        <p:spPr bwMode="auto">
          <a:xfrm>
            <a:off x="4846320" y="3986784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Activo-bajo · Pull-up interno · GPIO 17</a:t>
            </a:r>
            <a:endParaRPr lang="en-US" sz="1050"/>
          </a:p>
        </p:txBody>
      </p:sp>
      <p:sp>
        <p:nvSpPr>
          <p:cNvPr id="401574605" name="Shape 40"/>
          <p:cNvSpPr/>
          <p:nvPr/>
        </p:nvSpPr>
        <p:spPr bwMode="auto">
          <a:xfrm>
            <a:off x="274320" y="4645152"/>
            <a:ext cx="8686800" cy="310896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75810824" name="Text 41"/>
          <p:cNvSpPr/>
          <p:nvPr/>
        </p:nvSpPr>
        <p:spPr bwMode="auto">
          <a:xfrm>
            <a:off x="365760" y="464515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2400E"/>
                </a:solidFill>
                <a:latin typeface="Calibri"/>
                <a:ea typeface="Calibri"/>
                <a:cs typeface="Calibri"/>
              </a:rPr>
              <a:t>⚠  GPIO 35, 36 y 37 reservados para Flash/PSRAM — no usar en el diseño de hardware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741314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85185133" name="Text 1"/>
          <p:cNvSpPr/>
          <p:nvPr/>
        </p:nvSpPr>
        <p:spPr bwMode="auto"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CANALES DE DATOS</a:t>
            </a:r>
            <a:endParaRPr lang="en-US" sz="2800"/>
          </a:p>
        </p:txBody>
      </p:sp>
      <p:sp>
        <p:nvSpPr>
          <p:cNvPr id="2019605694" name="Text 2"/>
          <p:cNvSpPr/>
          <p:nvPr/>
        </p:nvSpPr>
        <p:spPr bwMode="auto"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Paquete JSON transmitido @50 Hz por WebSocket</a:t>
            </a:r>
            <a:endParaRPr lang="en-US" sz="1300"/>
          </a:p>
        </p:txBody>
      </p:sp>
      <p:sp>
        <p:nvSpPr>
          <p:cNvPr id="1428769305" name="Shape 3"/>
          <p:cNvSpPr/>
          <p:nvPr/>
        </p:nvSpPr>
        <p:spPr bwMode="auto">
          <a:xfrm>
            <a:off x="457200" y="111556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524657390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274320" y="1234440"/>
          <a:ext cx="8595360" cy="36576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645920"/>
                <a:gridCol w="1005840"/>
                <a:gridCol w="1737360"/>
                <a:gridCol w="4206240"/>
              </a:tblGrid>
              <a:tr h="32918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Campo JSON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Tipo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Fuente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Descripción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D9488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s1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bool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GPIO 15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Cerrojo BLOQUEADO (activo-bajo)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s2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bool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GPIO 16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Cerrojo RETENIDO (activo-bajo)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s3 / gas_valve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bool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GPIO 17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Válvula de gas / disparo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roll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float °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GY-89 + filtro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Eje longitudinal ±90°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pitch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float °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GY-89 + filtro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Eje transversal ±90°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yaw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float °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GY-89 integrado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Rumbo acumulado 0–360°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yaw_signed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float °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yaw transformado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((yaw+180)%360)−180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enc_h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int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Encoder H (ISR)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Cuentas cuadratura horizontal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enc_v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int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Encoder V (ISR)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Cuentas cuadratura vertical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ts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int ms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time.ticks_ms()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Timestamp desde boot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5706320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34153" name="Text 1"/>
          <p:cNvSpPr/>
          <p:nvPr/>
        </p:nvSpPr>
        <p:spPr bwMode="auto"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ARQUITECTURA DE SOFTWARE</a:t>
            </a:r>
            <a:endParaRPr lang="en-US" sz="2800"/>
          </a:p>
        </p:txBody>
      </p:sp>
      <p:sp>
        <p:nvSpPr>
          <p:cNvPr id="1888672077" name="Text 2"/>
          <p:cNvSpPr/>
          <p:nvPr/>
        </p:nvSpPr>
        <p:spPr bwMode="auto"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ESP32-S3 (MicroPython) ↔ Navegador (JS Vanilla)</a:t>
            </a:r>
            <a:endParaRPr lang="en-US" sz="1300"/>
          </a:p>
        </p:txBody>
      </p:sp>
      <p:sp>
        <p:nvSpPr>
          <p:cNvPr id="1579815846" name="Shape 3"/>
          <p:cNvSpPr/>
          <p:nvPr/>
        </p:nvSpPr>
        <p:spPr bwMode="auto">
          <a:xfrm>
            <a:off x="457200" y="1115568"/>
            <a:ext cx="8229600" cy="2286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927199313" name="Shape 4"/>
          <p:cNvSpPr/>
          <p:nvPr/>
        </p:nvSpPr>
        <p:spPr bwMode="auto">
          <a:xfrm>
            <a:off x="320040" y="1261872"/>
            <a:ext cx="4114800" cy="3520440"/>
          </a:xfrm>
          <a:prstGeom prst="rect">
            <a:avLst/>
          </a:prstGeom>
          <a:solidFill>
            <a:srgbClr val="1B2B4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901683604" name="Shape 5"/>
          <p:cNvSpPr/>
          <p:nvPr/>
        </p:nvSpPr>
        <p:spPr bwMode="auto">
          <a:xfrm>
            <a:off x="320040" y="1261872"/>
            <a:ext cx="41148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07494297" name="Text 6"/>
          <p:cNvSpPr/>
          <p:nvPr/>
        </p:nvSpPr>
        <p:spPr bwMode="auto">
          <a:xfrm>
            <a:off x="320040" y="12618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ESP32-S3 · MicroPython</a:t>
            </a:r>
            <a:endParaRPr lang="en-US" sz="1200"/>
          </a:p>
        </p:txBody>
      </p:sp>
      <p:pic>
        <p:nvPicPr>
          <p:cNvPr id="19975292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2920" y="1289304"/>
            <a:ext cx="274320" cy="274320"/>
          </a:xfrm>
          <a:prstGeom prst="rect">
            <a:avLst/>
          </a:prstGeom>
        </p:spPr>
      </p:pic>
      <p:sp>
        <p:nvSpPr>
          <p:cNvPr id="1591450414" name="Text 7"/>
          <p:cNvSpPr/>
          <p:nvPr/>
        </p:nvSpPr>
        <p:spPr bwMode="auto">
          <a:xfrm>
            <a:off x="411480" y="16824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onsolas"/>
                <a:ea typeface="Consolas"/>
                <a:cs typeface="Consolas"/>
              </a:rPr>
              <a:t>boot.py  →  240 MHz, sin log, WiFi off</a:t>
            </a:r>
            <a:endParaRPr lang="en-US" sz="1000"/>
          </a:p>
        </p:txBody>
      </p:sp>
      <p:sp>
        <p:nvSpPr>
          <p:cNvPr id="939155872" name="Text 8"/>
          <p:cNvSpPr/>
          <p:nvPr/>
        </p:nvSpPr>
        <p:spPr bwMode="auto">
          <a:xfrm>
            <a:off x="411480" y="2075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onsolas"/>
                <a:ea typeface="Consolas"/>
                <a:cs typeface="Consolas"/>
              </a:rPr>
              <a:t>main.py  →  init_hid() → connect_wifi() → asyncio</a:t>
            </a:r>
            <a:endParaRPr lang="en-US" sz="1000"/>
          </a:p>
        </p:txBody>
      </p:sp>
      <p:sp>
        <p:nvSpPr>
          <p:cNvPr id="687407192" name="Text 9"/>
          <p:cNvSpPr/>
          <p:nvPr/>
        </p:nvSpPr>
        <p:spPr bwMode="auto">
          <a:xfrm>
            <a:off x="411480" y="2468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onsolas"/>
                <a:ea typeface="Consolas"/>
                <a:cs typeface="Consolas"/>
              </a:rPr>
              <a:t>server.py  →  HTTP + WS RFC 6455 + REST /api/*</a:t>
            </a:r>
            <a:endParaRPr lang="en-US" sz="1000"/>
          </a:p>
        </p:txBody>
      </p:sp>
      <p:sp>
        <p:nvSpPr>
          <p:cNvPr id="1238083466" name="Text 10"/>
          <p:cNvSpPr/>
          <p:nvPr/>
        </p:nvSpPr>
        <p:spPr bwMode="auto">
          <a:xfrm>
            <a:off x="411480" y="28620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onsolas"/>
                <a:ea typeface="Consolas"/>
                <a:cs typeface="Consolas"/>
              </a:rPr>
              <a:t>sensors.py  →  GY-89 I2C + encoders IRQ + S1/S2/S3</a:t>
            </a:r>
            <a:endParaRPr lang="en-US" sz="1000"/>
          </a:p>
        </p:txBody>
      </p:sp>
      <p:sp>
        <p:nvSpPr>
          <p:cNvPr id="427858884" name="Text 11"/>
          <p:cNvSpPr/>
          <p:nvPr/>
        </p:nvSpPr>
        <p:spPr bwMode="auto">
          <a:xfrm>
            <a:off x="411480" y="32552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onsolas"/>
                <a:ea typeface="Consolas"/>
                <a:cs typeface="Consolas"/>
              </a:rPr>
              <a:t>gy89_driver.py  →  Filtro complementario α=0.98</a:t>
            </a:r>
            <a:endParaRPr lang="en-US" sz="1000"/>
          </a:p>
        </p:txBody>
      </p:sp>
      <p:sp>
        <p:nvSpPr>
          <p:cNvPr id="1873288446" name="Text 12"/>
          <p:cNvSpPr/>
          <p:nvPr/>
        </p:nvSpPr>
        <p:spPr bwMode="auto">
          <a:xfrm>
            <a:off x="411480" y="36484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onsolas"/>
                <a:ea typeface="Consolas"/>
                <a:cs typeface="Consolas"/>
              </a:rPr>
              <a:t>hid_mouse.py  →  Mouse absoluto [0,32767] USB OTG</a:t>
            </a:r>
            <a:endParaRPr lang="en-US" sz="1000"/>
          </a:p>
        </p:txBody>
      </p:sp>
      <p:sp>
        <p:nvSpPr>
          <p:cNvPr id="599001956" name="Text 13"/>
          <p:cNvSpPr/>
          <p:nvPr/>
        </p:nvSpPr>
        <p:spPr bwMode="auto">
          <a:xfrm>
            <a:off x="411480" y="40416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_broadcast_loop  →  50 Hz · JSON → todos los clientes</a:t>
            </a:r>
            <a:endParaRPr lang="en-US" sz="1000"/>
          </a:p>
        </p:txBody>
      </p:sp>
      <p:sp>
        <p:nvSpPr>
          <p:cNvPr id="1408072758" name="Text 15"/>
          <p:cNvSpPr/>
          <p:nvPr/>
        </p:nvSpPr>
        <p:spPr bwMode="auto">
          <a:xfrm flipH="0" flipV="0">
            <a:off x="4328807" y="2298839"/>
            <a:ext cx="640080" cy="38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WiFi</a:t>
            </a:r>
            <a:endParaRPr lang="en-US" sz="800"/>
          </a:p>
          <a:p>
            <a:pPr marL="0" indent="0" algn="ctr">
              <a:buNone/>
              <a:defRPr/>
            </a:pPr>
            <a:r>
              <a:rPr lang="en-US" sz="8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50 Hz</a:t>
            </a:r>
            <a:endParaRPr lang="en-US" sz="800"/>
          </a:p>
        </p:txBody>
      </p:sp>
      <p:sp>
        <p:nvSpPr>
          <p:cNvPr id="38835849" name="Shape 17"/>
          <p:cNvSpPr/>
          <p:nvPr/>
        </p:nvSpPr>
        <p:spPr bwMode="auto">
          <a:xfrm>
            <a:off x="4846320" y="1261872"/>
            <a:ext cx="3977640" cy="3520440"/>
          </a:xfrm>
          <a:prstGeom prst="rect">
            <a:avLst/>
          </a:prstGeom>
          <a:solidFill>
            <a:srgbClr val="1B2B4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810809197" name="Shape 18"/>
          <p:cNvSpPr/>
          <p:nvPr/>
        </p:nvSpPr>
        <p:spPr bwMode="auto">
          <a:xfrm>
            <a:off x="4846320" y="1261872"/>
            <a:ext cx="3977640" cy="32918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37369571" name="Text 19"/>
          <p:cNvSpPr/>
          <p:nvPr/>
        </p:nvSpPr>
        <p:spPr bwMode="auto">
          <a:xfrm>
            <a:off x="4846320" y="126187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Navegador · JS Vanilla</a:t>
            </a:r>
            <a:endParaRPr lang="en-US" sz="1200"/>
          </a:p>
        </p:txBody>
      </p:sp>
      <p:sp>
        <p:nvSpPr>
          <p:cNvPr id="1664679442" name="Text 20"/>
          <p:cNvSpPr/>
          <p:nvPr/>
        </p:nvSpPr>
        <p:spPr bwMode="auto">
          <a:xfrm>
            <a:off x="4956048" y="17007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ws_client.js</a:t>
            </a:r>
            <a:endParaRPr lang="en-US" sz="1000"/>
          </a:p>
        </p:txBody>
      </p:sp>
      <p:sp>
        <p:nvSpPr>
          <p:cNvPr id="1932192811" name="Text 21"/>
          <p:cNvSpPr/>
          <p:nvPr/>
        </p:nvSpPr>
        <p:spPr bwMode="auto">
          <a:xfrm>
            <a:off x="6455664" y="17007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dispatch(d) → módulos, sim offline, backoff</a:t>
            </a:r>
            <a:endParaRPr lang="en-US" sz="950"/>
          </a:p>
        </p:txBody>
      </p:sp>
      <p:sp>
        <p:nvSpPr>
          <p:cNvPr id="1459485092" name="Text 22"/>
          <p:cNvSpPr/>
          <p:nvPr/>
        </p:nvSpPr>
        <p:spPr bwMode="auto">
          <a:xfrm>
            <a:off x="4956048" y="21762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svg_bolt.js</a:t>
            </a:r>
            <a:endParaRPr lang="en-US" sz="1000"/>
          </a:p>
        </p:txBody>
      </p:sp>
      <p:sp>
        <p:nvSpPr>
          <p:cNvPr id="688520804" name="Text 23"/>
          <p:cNvSpPr/>
          <p:nvPr/>
        </p:nvSpPr>
        <p:spPr bwMode="auto">
          <a:xfrm>
            <a:off x="6455664" y="21762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Animación SVG cerrojo M2.50 a 60 fps</a:t>
            </a:r>
            <a:endParaRPr lang="en-US" sz="950"/>
          </a:p>
        </p:txBody>
      </p:sp>
      <p:sp>
        <p:nvSpPr>
          <p:cNvPr id="644566755" name="Text 24"/>
          <p:cNvSpPr/>
          <p:nvPr/>
        </p:nvSpPr>
        <p:spPr bwMode="auto">
          <a:xfrm>
            <a:off x="4956048" y="26517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gauges.js</a:t>
            </a:r>
            <a:endParaRPr lang="en-US" sz="1000"/>
          </a:p>
        </p:txBody>
      </p:sp>
      <p:sp>
        <p:nvSpPr>
          <p:cNvPr id="1980984394" name="Text 25"/>
          <p:cNvSpPr/>
          <p:nvPr/>
        </p:nvSpPr>
        <p:spPr bwMode="auto">
          <a:xfrm>
            <a:off x="6455664" y="26517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Roll/Pitch/Yaw — horizonte + barra + slider</a:t>
            </a:r>
            <a:endParaRPr lang="en-US" sz="950"/>
          </a:p>
        </p:txBody>
      </p:sp>
      <p:sp>
        <p:nvSpPr>
          <p:cNvPr id="1602089795" name="Text 26"/>
          <p:cNvSpPr/>
          <p:nvPr/>
        </p:nvSpPr>
        <p:spPr bwMode="auto">
          <a:xfrm>
            <a:off x="4956048" y="31272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encoders.js</a:t>
            </a:r>
            <a:endParaRPr lang="en-US" sz="1000"/>
          </a:p>
        </p:txBody>
      </p:sp>
      <p:sp>
        <p:nvSpPr>
          <p:cNvPr id="758093762" name="Text 27"/>
          <p:cNvSpPr/>
          <p:nvPr/>
        </p:nvSpPr>
        <p:spPr bwMode="auto">
          <a:xfrm>
            <a:off x="6455664" y="3127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Contadores ENC_H/V + brújula heading</a:t>
            </a:r>
            <a:endParaRPr lang="en-US" sz="950"/>
          </a:p>
        </p:txBody>
      </p:sp>
      <p:sp>
        <p:nvSpPr>
          <p:cNvPr id="542053463" name="Text 28"/>
          <p:cNvSpPr/>
          <p:nvPr/>
        </p:nvSpPr>
        <p:spPr bwMode="auto">
          <a:xfrm>
            <a:off x="4956048" y="3602735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charts.js</a:t>
            </a:r>
            <a:endParaRPr lang="en-US" sz="1000"/>
          </a:p>
        </p:txBody>
      </p:sp>
      <p:sp>
        <p:nvSpPr>
          <p:cNvPr id="2081883433" name="Text 29"/>
          <p:cNvSpPr/>
          <p:nvPr/>
        </p:nvSpPr>
        <p:spPr bwMode="auto">
          <a:xfrm>
            <a:off x="6455664" y="3602735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Plotly.js 5 paneles rolling, buffer 60 s</a:t>
            </a:r>
            <a:endParaRPr lang="en-US" sz="950"/>
          </a:p>
        </p:txBody>
      </p:sp>
      <p:sp>
        <p:nvSpPr>
          <p:cNvPr id="671830175" name="Text 30"/>
          <p:cNvSpPr/>
          <p:nvPr/>
        </p:nvSpPr>
        <p:spPr bwMode="auto">
          <a:xfrm>
            <a:off x="4956048" y="40782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bt_toggle.js</a:t>
            </a:r>
            <a:endParaRPr lang="en-US" sz="1000"/>
          </a:p>
        </p:txBody>
      </p:sp>
      <p:sp>
        <p:nvSpPr>
          <p:cNvPr id="807554440" name="Text 31"/>
          <p:cNvSpPr/>
          <p:nvPr/>
        </p:nvSpPr>
        <p:spPr bwMode="auto">
          <a:xfrm>
            <a:off x="6455664" y="4078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POST /api/calibrate/{yaw,pitch,roll}</a:t>
            </a:r>
            <a:endParaRPr lang="en-US" sz="950"/>
          </a:p>
        </p:txBody>
      </p:sp>
      <p:sp>
        <p:nvSpPr>
          <p:cNvPr id="763126941" name="Text 16"/>
          <p:cNvSpPr/>
          <p:nvPr/>
        </p:nvSpPr>
        <p:spPr bwMode="auto">
          <a:xfrm flipH="0" flipV="0">
            <a:off x="4537958" y="2368296"/>
            <a:ext cx="243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►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898470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18178221" name="Text 1"/>
          <p:cNvSpPr/>
          <p:nvPr/>
        </p:nvSpPr>
        <p:spPr bwMode="auto"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FIRMWARE — MÓDULOS</a:t>
            </a:r>
            <a:endParaRPr lang="en-US" sz="2800"/>
          </a:p>
        </p:txBody>
      </p:sp>
      <p:sp>
        <p:nvSpPr>
          <p:cNvPr id="774949996" name="Text 2"/>
          <p:cNvSpPr/>
          <p:nvPr/>
        </p:nvSpPr>
        <p:spPr bwMode="auto"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Responsabilidades y dependencias de cada archivo</a:t>
            </a:r>
            <a:endParaRPr lang="en-US" sz="1300"/>
          </a:p>
        </p:txBody>
      </p:sp>
      <p:sp>
        <p:nvSpPr>
          <p:cNvPr id="1648098737" name="Shape 3"/>
          <p:cNvSpPr/>
          <p:nvPr/>
        </p:nvSpPr>
        <p:spPr bwMode="auto">
          <a:xfrm>
            <a:off x="457200" y="111556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8119612" name="Shape 4"/>
          <p:cNvSpPr/>
          <p:nvPr/>
        </p:nvSpPr>
        <p:spPr bwMode="auto">
          <a:xfrm>
            <a:off x="228600" y="1261872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69380545" name="Shape 5"/>
          <p:cNvSpPr/>
          <p:nvPr/>
        </p:nvSpPr>
        <p:spPr bwMode="auto">
          <a:xfrm>
            <a:off x="228600" y="1261872"/>
            <a:ext cx="20848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698200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0040" y="1399032"/>
            <a:ext cx="274320" cy="274320"/>
          </a:xfrm>
          <a:prstGeom prst="rect">
            <a:avLst/>
          </a:prstGeom>
        </p:spPr>
      </p:pic>
      <p:sp>
        <p:nvSpPr>
          <p:cNvPr id="600539014" name="Text 6"/>
          <p:cNvSpPr/>
          <p:nvPr/>
        </p:nvSpPr>
        <p:spPr bwMode="auto">
          <a:xfrm>
            <a:off x="649224" y="1380744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boot.py</a:t>
            </a:r>
            <a:endParaRPr lang="en-US" sz="1100"/>
          </a:p>
        </p:txBody>
      </p:sp>
      <p:sp>
        <p:nvSpPr>
          <p:cNvPr id="1084663147" name="Text 7"/>
          <p:cNvSpPr/>
          <p:nvPr/>
        </p:nvSpPr>
        <p:spPr bwMode="auto">
          <a:xfrm>
            <a:off x="320040" y="17190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CPU @ 240 MHz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Desactiva WiFi antes de main.py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osdebug(None) — silencia logs UART</a:t>
            </a:r>
            <a:endParaRPr lang="en-US" sz="900"/>
          </a:p>
        </p:txBody>
      </p:sp>
      <p:sp>
        <p:nvSpPr>
          <p:cNvPr id="259228735" name="Shape 8"/>
          <p:cNvSpPr/>
          <p:nvPr/>
        </p:nvSpPr>
        <p:spPr bwMode="auto">
          <a:xfrm>
            <a:off x="2423160" y="1261872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08576579" name="Shape 9"/>
          <p:cNvSpPr/>
          <p:nvPr/>
        </p:nvSpPr>
        <p:spPr bwMode="auto">
          <a:xfrm>
            <a:off x="2423160" y="1261872"/>
            <a:ext cx="208483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470720784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514600" y="1399032"/>
            <a:ext cx="274320" cy="274320"/>
          </a:xfrm>
          <a:prstGeom prst="rect">
            <a:avLst/>
          </a:prstGeom>
        </p:spPr>
      </p:pic>
      <p:sp>
        <p:nvSpPr>
          <p:cNvPr id="181774500" name="Text 10"/>
          <p:cNvSpPr/>
          <p:nvPr/>
        </p:nvSpPr>
        <p:spPr bwMode="auto">
          <a:xfrm>
            <a:off x="2843784" y="1380744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config.py</a:t>
            </a:r>
            <a:endParaRPr lang="en-US" sz="1100"/>
          </a:p>
        </p:txBody>
      </p:sp>
      <p:sp>
        <p:nvSpPr>
          <p:cNvPr id="703924879" name="Text 11"/>
          <p:cNvSpPr/>
          <p:nvPr/>
        </p:nvSpPr>
        <p:spPr bwMode="auto">
          <a:xfrm>
            <a:off x="2514600" y="17190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Única fuente de verdad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WiFi · GPIO · HID · Tiempos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SIMULATE_SENSORS toggle</a:t>
            </a:r>
            <a:endParaRPr lang="en-US" sz="900"/>
          </a:p>
        </p:txBody>
      </p:sp>
      <p:sp>
        <p:nvSpPr>
          <p:cNvPr id="218913256" name="Shape 12"/>
          <p:cNvSpPr/>
          <p:nvPr/>
        </p:nvSpPr>
        <p:spPr bwMode="auto">
          <a:xfrm>
            <a:off x="4617720" y="1261872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914656754" name="Shape 13"/>
          <p:cNvSpPr/>
          <p:nvPr/>
        </p:nvSpPr>
        <p:spPr bwMode="auto">
          <a:xfrm>
            <a:off x="4617720" y="1261872"/>
            <a:ext cx="208483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71385934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709160" y="1399032"/>
            <a:ext cx="274320" cy="274320"/>
          </a:xfrm>
          <a:prstGeom prst="rect">
            <a:avLst/>
          </a:prstGeom>
        </p:spPr>
      </p:pic>
      <p:sp>
        <p:nvSpPr>
          <p:cNvPr id="896406158" name="Text 14"/>
          <p:cNvSpPr/>
          <p:nvPr/>
        </p:nvSpPr>
        <p:spPr bwMode="auto">
          <a:xfrm>
            <a:off x="5038344" y="1380744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main.py</a:t>
            </a:r>
            <a:endParaRPr lang="en-US" sz="1100"/>
          </a:p>
        </p:txBody>
      </p:sp>
      <p:sp>
        <p:nvSpPr>
          <p:cNvPr id="1349194331" name="Text 15"/>
          <p:cNvSpPr/>
          <p:nvPr/>
        </p:nvSpPr>
        <p:spPr bwMode="auto">
          <a:xfrm>
            <a:off x="4709160" y="17190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init_hid() antes de WiFi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STA→AP fallback en timeout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asyncio.run(start_server())</a:t>
            </a:r>
            <a:endParaRPr lang="en-US" sz="900"/>
          </a:p>
        </p:txBody>
      </p:sp>
      <p:sp>
        <p:nvSpPr>
          <p:cNvPr id="38955952" name="Shape 16"/>
          <p:cNvSpPr/>
          <p:nvPr/>
        </p:nvSpPr>
        <p:spPr bwMode="auto">
          <a:xfrm>
            <a:off x="6812280" y="1261872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789052318" name="Shape 17"/>
          <p:cNvSpPr/>
          <p:nvPr/>
        </p:nvSpPr>
        <p:spPr bwMode="auto">
          <a:xfrm>
            <a:off x="6812280" y="1261872"/>
            <a:ext cx="2084832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464401381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903720" y="1399032"/>
            <a:ext cx="274320" cy="274320"/>
          </a:xfrm>
          <a:prstGeom prst="rect">
            <a:avLst/>
          </a:prstGeom>
        </p:spPr>
      </p:pic>
      <p:sp>
        <p:nvSpPr>
          <p:cNvPr id="1999685350" name="Text 18"/>
          <p:cNvSpPr/>
          <p:nvPr/>
        </p:nvSpPr>
        <p:spPr bwMode="auto">
          <a:xfrm>
            <a:off x="7232904" y="1380744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server.py</a:t>
            </a:r>
            <a:endParaRPr lang="en-US" sz="1100"/>
          </a:p>
        </p:txBody>
      </p:sp>
      <p:sp>
        <p:nvSpPr>
          <p:cNvPr id="753214897" name="Text 19"/>
          <p:cNvSpPr/>
          <p:nvPr/>
        </p:nvSpPr>
        <p:spPr bwMode="auto">
          <a:xfrm>
            <a:off x="6903720" y="17190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HTTP estático + WS RFC 6455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REST /api/calibrate/*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_broadcast_loop @ 50 Hz</a:t>
            </a:r>
            <a:endParaRPr lang="en-US" sz="900"/>
          </a:p>
        </p:txBody>
      </p:sp>
      <p:sp>
        <p:nvSpPr>
          <p:cNvPr id="1019039638" name="Shape 20"/>
          <p:cNvSpPr/>
          <p:nvPr/>
        </p:nvSpPr>
        <p:spPr bwMode="auto">
          <a:xfrm>
            <a:off x="228600" y="2523744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542539746" name="Shape 21"/>
          <p:cNvSpPr/>
          <p:nvPr/>
        </p:nvSpPr>
        <p:spPr bwMode="auto">
          <a:xfrm>
            <a:off x="228600" y="2523744"/>
            <a:ext cx="208483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559943788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20040" y="2660904"/>
            <a:ext cx="274320" cy="274320"/>
          </a:xfrm>
          <a:prstGeom prst="rect">
            <a:avLst/>
          </a:prstGeom>
        </p:spPr>
      </p:pic>
      <p:sp>
        <p:nvSpPr>
          <p:cNvPr id="470048855" name="Text 22"/>
          <p:cNvSpPr/>
          <p:nvPr/>
        </p:nvSpPr>
        <p:spPr bwMode="auto">
          <a:xfrm>
            <a:off x="649224" y="2642616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sensors.py</a:t>
            </a:r>
            <a:endParaRPr lang="en-US" sz="1100"/>
          </a:p>
        </p:txBody>
      </p:sp>
      <p:sp>
        <p:nvSpPr>
          <p:cNvPr id="1171010776" name="Text 23"/>
          <p:cNvSpPr/>
          <p:nvPr/>
        </p:nvSpPr>
        <p:spPr bwMode="auto">
          <a:xfrm>
            <a:off x="320040" y="298094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init() GY-89 + encoders IRQ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read() → dict canónico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reset_yaw/pitch/roll/encoders()</a:t>
            </a:r>
            <a:endParaRPr lang="en-US" sz="900"/>
          </a:p>
        </p:txBody>
      </p:sp>
      <p:sp>
        <p:nvSpPr>
          <p:cNvPr id="580506174" name="Shape 24"/>
          <p:cNvSpPr/>
          <p:nvPr/>
        </p:nvSpPr>
        <p:spPr bwMode="auto">
          <a:xfrm>
            <a:off x="2423160" y="2523744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73724683" name="Shape 25"/>
          <p:cNvSpPr/>
          <p:nvPr/>
        </p:nvSpPr>
        <p:spPr bwMode="auto">
          <a:xfrm>
            <a:off x="2423160" y="2523744"/>
            <a:ext cx="2084832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094469523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2514600" y="2660904"/>
            <a:ext cx="274320" cy="274320"/>
          </a:xfrm>
          <a:prstGeom prst="rect">
            <a:avLst/>
          </a:prstGeom>
        </p:spPr>
      </p:pic>
      <p:sp>
        <p:nvSpPr>
          <p:cNvPr id="920659774" name="Text 26"/>
          <p:cNvSpPr/>
          <p:nvPr/>
        </p:nvSpPr>
        <p:spPr bwMode="auto">
          <a:xfrm>
            <a:off x="2843784" y="2642616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gy89_driver.py</a:t>
            </a:r>
            <a:endParaRPr lang="en-US" sz="1100"/>
          </a:p>
        </p:txBody>
      </p:sp>
      <p:sp>
        <p:nvSpPr>
          <p:cNvPr id="1540991485" name="Text 27"/>
          <p:cNvSpPr/>
          <p:nvPr/>
        </p:nvSpPr>
        <p:spPr bwMode="auto">
          <a:xfrm>
            <a:off x="2514600" y="298094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L3GD20 + LSM303D I2C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Filtro complementario α=0.98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read_angles() → (roll, pitch, yaw)</a:t>
            </a:r>
            <a:endParaRPr lang="en-US" sz="900"/>
          </a:p>
        </p:txBody>
      </p:sp>
      <p:sp>
        <p:nvSpPr>
          <p:cNvPr id="1837711105" name="Shape 28"/>
          <p:cNvSpPr/>
          <p:nvPr/>
        </p:nvSpPr>
        <p:spPr bwMode="auto">
          <a:xfrm>
            <a:off x="4617720" y="2523744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603796576" name="Shape 29"/>
          <p:cNvSpPr/>
          <p:nvPr/>
        </p:nvSpPr>
        <p:spPr bwMode="auto">
          <a:xfrm>
            <a:off x="4617720" y="2523744"/>
            <a:ext cx="20848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82609668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4709160" y="2660904"/>
            <a:ext cx="274320" cy="274320"/>
          </a:xfrm>
          <a:prstGeom prst="rect">
            <a:avLst/>
          </a:prstGeom>
        </p:spPr>
      </p:pic>
      <p:sp>
        <p:nvSpPr>
          <p:cNvPr id="1283531792" name="Text 30"/>
          <p:cNvSpPr/>
          <p:nvPr/>
        </p:nvSpPr>
        <p:spPr bwMode="auto">
          <a:xfrm>
            <a:off x="5038344" y="2642616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hid_mouse.py</a:t>
            </a:r>
            <a:endParaRPr lang="en-US" sz="1100"/>
          </a:p>
        </p:txBody>
      </p:sp>
      <p:sp>
        <p:nvSpPr>
          <p:cNvPr id="493511059" name="Text 31"/>
          <p:cNvSpPr/>
          <p:nvPr/>
        </p:nvSpPr>
        <p:spPr bwMode="auto">
          <a:xfrm>
            <a:off x="4709160" y="298094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Mouse absoluto [0,32767]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S3↑ → clic izquierdo 60 ms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Cascada: usb.device → mip → fallback</a:t>
            </a:r>
            <a:endParaRPr lang="en-US" sz="900"/>
          </a:p>
        </p:txBody>
      </p:sp>
      <p:sp>
        <p:nvSpPr>
          <p:cNvPr id="1648246180" name="Shape 32"/>
          <p:cNvSpPr/>
          <p:nvPr/>
        </p:nvSpPr>
        <p:spPr bwMode="auto">
          <a:xfrm>
            <a:off x="6812280" y="2523744"/>
            <a:ext cx="208483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753531685" name="Shape 33"/>
          <p:cNvSpPr/>
          <p:nvPr/>
        </p:nvSpPr>
        <p:spPr bwMode="auto">
          <a:xfrm>
            <a:off x="6812280" y="2523744"/>
            <a:ext cx="208483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995760817" name="Image 7" descr="preencoded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6903720" y="2660904"/>
            <a:ext cx="274320" cy="274320"/>
          </a:xfrm>
          <a:prstGeom prst="rect">
            <a:avLst/>
          </a:prstGeom>
        </p:spPr>
      </p:pic>
      <p:sp>
        <p:nvSpPr>
          <p:cNvPr id="1538500816" name="Text 34"/>
          <p:cNvSpPr/>
          <p:nvPr/>
        </p:nvSpPr>
        <p:spPr bwMode="auto">
          <a:xfrm>
            <a:off x="7232904" y="2642616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lib/usb/…</a:t>
            </a:r>
            <a:endParaRPr lang="en-US" sz="1100"/>
          </a:p>
        </p:txBody>
      </p:sp>
      <p:sp>
        <p:nvSpPr>
          <p:cNvPr id="2111340012" name="Text 35"/>
          <p:cNvSpPr/>
          <p:nvPr/>
        </p:nvSpPr>
        <p:spPr bwMode="auto">
          <a:xfrm>
            <a:off x="6903720" y="298094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Librería USB HID incluida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usb.device.hid.HIDInterface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Compatible MicroPython v1.23+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238638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87013188" name="Text 1"/>
          <p:cNvSpPr/>
          <p:nvPr/>
        </p:nvSpPr>
        <p:spPr bwMode="auto"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DRIVER GY-89 — FILTRO COMPLEMENTARIO</a:t>
            </a:r>
            <a:endParaRPr lang="en-US" sz="2800"/>
          </a:p>
        </p:txBody>
      </p:sp>
      <p:sp>
        <p:nvSpPr>
          <p:cNvPr id="1330216936" name="Text 2"/>
          <p:cNvSpPr/>
          <p:nvPr/>
        </p:nvSpPr>
        <p:spPr bwMode="auto"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Fusión sensorial giróscopo + acelerómetro + magnetómetro</a:t>
            </a:r>
            <a:endParaRPr lang="en-US" sz="1300"/>
          </a:p>
        </p:txBody>
      </p:sp>
      <p:sp>
        <p:nvSpPr>
          <p:cNvPr id="674638201" name="Shape 3"/>
          <p:cNvSpPr/>
          <p:nvPr/>
        </p:nvSpPr>
        <p:spPr bwMode="auto">
          <a:xfrm>
            <a:off x="457200" y="1115568"/>
            <a:ext cx="8229600" cy="2286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80167182" name="Shape 4"/>
          <p:cNvSpPr/>
          <p:nvPr/>
        </p:nvSpPr>
        <p:spPr bwMode="auto">
          <a:xfrm>
            <a:off x="320040" y="1280160"/>
            <a:ext cx="4114800" cy="1737360"/>
          </a:xfrm>
          <a:prstGeom prst="rect">
            <a:avLst/>
          </a:prstGeom>
          <a:solidFill>
            <a:srgbClr val="1B2B4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362995239" name="Shape 5"/>
          <p:cNvSpPr/>
          <p:nvPr/>
        </p:nvSpPr>
        <p:spPr bwMode="auto">
          <a:xfrm>
            <a:off x="320040" y="1280160"/>
            <a:ext cx="41148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04399367" name="Text 6"/>
          <p:cNvSpPr/>
          <p:nvPr/>
        </p:nvSpPr>
        <p:spPr bwMode="auto">
          <a:xfrm>
            <a:off x="320040" y="1280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L3GD20 — Giróscopo 3 ejes</a:t>
            </a:r>
            <a:endParaRPr lang="en-US" sz="1100"/>
          </a:p>
        </p:txBody>
      </p:sp>
      <p:sp>
        <p:nvSpPr>
          <p:cNvPr id="706191277" name="Text 7"/>
          <p:cNvSpPr/>
          <p:nvPr/>
        </p:nvSpPr>
        <p:spPr bwMode="auto">
          <a:xfrm>
            <a:off x="457200" y="1645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±500 dps · 17.5 mdps/LSB</a:t>
            </a:r>
            <a:endParaRPr lang="en-US" sz="1050"/>
          </a:p>
        </p:txBody>
      </p:sp>
      <p:sp>
        <p:nvSpPr>
          <p:cNvPr id="895227139" name="Text 8"/>
          <p:cNvSpPr/>
          <p:nvPr/>
        </p:nvSpPr>
        <p:spPr bwMode="auto">
          <a:xfrm>
            <a:off x="457200" y="1965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I2C 0x6B · 95 Hz</a:t>
            </a:r>
            <a:endParaRPr lang="en-US" sz="1050"/>
          </a:p>
        </p:txBody>
      </p:sp>
      <p:sp>
        <p:nvSpPr>
          <p:cNvPr id="1913611007" name="Text 9"/>
          <p:cNvSpPr/>
          <p:nvPr/>
        </p:nvSpPr>
        <p:spPr bwMode="auto">
          <a:xfrm>
            <a:off x="457200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Auto-increment reg | 0x80</a:t>
            </a:r>
            <a:endParaRPr lang="en-US" sz="1050"/>
          </a:p>
        </p:txBody>
      </p:sp>
      <p:sp>
        <p:nvSpPr>
          <p:cNvPr id="1186093288" name="Text 10"/>
          <p:cNvSpPr/>
          <p:nvPr/>
        </p:nvSpPr>
        <p:spPr bwMode="auto">
          <a:xfrm>
            <a:off x="457200" y="2606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Integra velocidad angular → rápido</a:t>
            </a:r>
            <a:endParaRPr lang="en-US" sz="1050"/>
          </a:p>
        </p:txBody>
      </p:sp>
      <p:sp>
        <p:nvSpPr>
          <p:cNvPr id="1905134660" name="Shape 11"/>
          <p:cNvSpPr/>
          <p:nvPr/>
        </p:nvSpPr>
        <p:spPr bwMode="auto">
          <a:xfrm>
            <a:off x="4727448" y="1280160"/>
            <a:ext cx="4114800" cy="1737360"/>
          </a:xfrm>
          <a:prstGeom prst="rect">
            <a:avLst/>
          </a:prstGeom>
          <a:solidFill>
            <a:srgbClr val="1B2B4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284665247" name="Shape 12"/>
          <p:cNvSpPr/>
          <p:nvPr/>
        </p:nvSpPr>
        <p:spPr bwMode="auto">
          <a:xfrm>
            <a:off x="4727448" y="1280160"/>
            <a:ext cx="411480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51153351" name="Text 13"/>
          <p:cNvSpPr/>
          <p:nvPr/>
        </p:nvSpPr>
        <p:spPr bwMode="auto">
          <a:xfrm>
            <a:off x="4727448" y="1280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LSM303D — Accel + Magnetómetro</a:t>
            </a:r>
            <a:endParaRPr lang="en-US" sz="1100"/>
          </a:p>
        </p:txBody>
      </p:sp>
      <p:sp>
        <p:nvSpPr>
          <p:cNvPr id="402681428" name="Text 14"/>
          <p:cNvSpPr/>
          <p:nvPr/>
        </p:nvSpPr>
        <p:spPr bwMode="auto">
          <a:xfrm>
            <a:off x="4864607" y="1645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Acc ±2g · 0.061 mg/LSB</a:t>
            </a:r>
            <a:endParaRPr lang="en-US" sz="1050"/>
          </a:p>
        </p:txBody>
      </p:sp>
      <p:sp>
        <p:nvSpPr>
          <p:cNvPr id="600891702" name="Text 15"/>
          <p:cNvSpPr/>
          <p:nvPr/>
        </p:nvSpPr>
        <p:spPr bwMode="auto">
          <a:xfrm>
            <a:off x="4864607" y="1965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Mag ±2 Gauss · I2C 0x1E</a:t>
            </a:r>
            <a:endParaRPr lang="en-US" sz="1050"/>
          </a:p>
        </p:txBody>
      </p:sp>
      <p:sp>
        <p:nvSpPr>
          <p:cNvPr id="10173735" name="Text 16"/>
          <p:cNvSpPr/>
          <p:nvPr/>
        </p:nvSpPr>
        <p:spPr bwMode="auto">
          <a:xfrm>
            <a:off x="4864607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Burst 6-byte lectura</a:t>
            </a:r>
            <a:endParaRPr lang="en-US" sz="1050"/>
          </a:p>
        </p:txBody>
      </p:sp>
      <p:sp>
        <p:nvSpPr>
          <p:cNvPr id="934533688" name="Text 17"/>
          <p:cNvSpPr/>
          <p:nvPr/>
        </p:nvSpPr>
        <p:spPr bwMode="auto">
          <a:xfrm>
            <a:off x="4864607" y="2606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Corrige deriva del giróscopo</a:t>
            </a:r>
            <a:endParaRPr lang="en-US" sz="1050"/>
          </a:p>
        </p:txBody>
      </p:sp>
      <p:sp>
        <p:nvSpPr>
          <p:cNvPr id="1239888744" name="Shape 18"/>
          <p:cNvSpPr/>
          <p:nvPr/>
        </p:nvSpPr>
        <p:spPr bwMode="auto">
          <a:xfrm>
            <a:off x="320040" y="3154680"/>
            <a:ext cx="8503920" cy="1737360"/>
          </a:xfrm>
          <a:prstGeom prst="rect">
            <a:avLst/>
          </a:prstGeom>
          <a:solidFill>
            <a:srgbClr val="1B2B4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932588793" name="Shape 19"/>
          <p:cNvSpPr/>
          <p:nvPr/>
        </p:nvSpPr>
        <p:spPr bwMode="auto">
          <a:xfrm>
            <a:off x="320040" y="3154680"/>
            <a:ext cx="850392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43202519" name="Text 20"/>
          <p:cNvSpPr/>
          <p:nvPr/>
        </p:nvSpPr>
        <p:spPr bwMode="auto">
          <a:xfrm>
            <a:off x="320040" y="31546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Filtro Complementario   α = 0.98   ·   DT = 0.02 s</a:t>
            </a:r>
            <a:endParaRPr lang="en-US" sz="1200"/>
          </a:p>
        </p:txBody>
      </p:sp>
      <p:sp>
        <p:nvSpPr>
          <p:cNvPr id="607314227" name="Text 21"/>
          <p:cNvSpPr/>
          <p:nvPr/>
        </p:nvSpPr>
        <p:spPr bwMode="auto">
          <a:xfrm>
            <a:off x="457200" y="35478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pitch(t)  =  </a:t>
            </a:r>
            <a:endParaRPr lang="en-US" sz="1050"/>
          </a:p>
        </p:txBody>
      </p:sp>
      <p:sp>
        <p:nvSpPr>
          <p:cNvPr id="1355845575" name="Text 22"/>
          <p:cNvSpPr/>
          <p:nvPr/>
        </p:nvSpPr>
        <p:spPr bwMode="auto">
          <a:xfrm>
            <a:off x="1600200" y="35478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0.98 × [pitch(t-1) + gy × DT]</a:t>
            </a:r>
            <a:endParaRPr lang="en-US" sz="1050"/>
          </a:p>
        </p:txBody>
      </p:sp>
      <p:sp>
        <p:nvSpPr>
          <p:cNvPr id="713942068" name="Text 23"/>
          <p:cNvSpPr/>
          <p:nvPr/>
        </p:nvSpPr>
        <p:spPr bwMode="auto">
          <a:xfrm>
            <a:off x="4846320" y="3547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CFBF1"/>
                </a:solidFill>
                <a:latin typeface="Consolas"/>
                <a:ea typeface="Consolas"/>
                <a:cs typeface="Consolas"/>
              </a:rPr>
              <a:t>+  0.02 × atan2(ay, az)</a:t>
            </a:r>
            <a:endParaRPr lang="en-US" sz="1050"/>
          </a:p>
        </p:txBody>
      </p:sp>
      <p:sp>
        <p:nvSpPr>
          <p:cNvPr id="2038764500" name="Text 24"/>
          <p:cNvSpPr/>
          <p:nvPr/>
        </p:nvSpPr>
        <p:spPr bwMode="auto">
          <a:xfrm>
            <a:off x="457200" y="3931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roll(t)  =  </a:t>
            </a:r>
            <a:endParaRPr lang="en-US" sz="1050"/>
          </a:p>
        </p:txBody>
      </p:sp>
      <p:sp>
        <p:nvSpPr>
          <p:cNvPr id="1654133028" name="Text 25"/>
          <p:cNvSpPr/>
          <p:nvPr/>
        </p:nvSpPr>
        <p:spPr bwMode="auto">
          <a:xfrm>
            <a:off x="1600200" y="3931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0.98 × [roll(t-1)  + gx × DT]</a:t>
            </a:r>
            <a:endParaRPr lang="en-US" sz="1050"/>
          </a:p>
        </p:txBody>
      </p:sp>
      <p:sp>
        <p:nvSpPr>
          <p:cNvPr id="1587253893" name="Text 26"/>
          <p:cNvSpPr/>
          <p:nvPr/>
        </p:nvSpPr>
        <p:spPr bwMode="auto">
          <a:xfrm>
            <a:off x="4846320" y="3931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CFBF1"/>
                </a:solidFill>
                <a:latin typeface="Consolas"/>
                <a:ea typeface="Consolas"/>
                <a:cs typeface="Consolas"/>
              </a:rPr>
              <a:t>+  0.02 × atan2(−ax, az)</a:t>
            </a:r>
            <a:endParaRPr lang="en-US" sz="1050"/>
          </a:p>
        </p:txBody>
      </p:sp>
      <p:sp>
        <p:nvSpPr>
          <p:cNvPr id="163749526" name="Text 27"/>
          <p:cNvSpPr/>
          <p:nvPr/>
        </p:nvSpPr>
        <p:spPr bwMode="auto">
          <a:xfrm>
            <a:off x="457200" y="43159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yaw(t)  =  </a:t>
            </a:r>
            <a:endParaRPr lang="en-US" sz="1050"/>
          </a:p>
        </p:txBody>
      </p:sp>
      <p:sp>
        <p:nvSpPr>
          <p:cNvPr id="910595212" name="Text 28"/>
          <p:cNvSpPr/>
          <p:nvPr/>
        </p:nvSpPr>
        <p:spPr bwMode="auto">
          <a:xfrm>
            <a:off x="1600200" y="43159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0.95 × yaw_gyro</a:t>
            </a:r>
            <a:endParaRPr lang="en-US" sz="1050"/>
          </a:p>
        </p:txBody>
      </p:sp>
      <p:sp>
        <p:nvSpPr>
          <p:cNvPr id="1796362607" name="Text 29"/>
          <p:cNvSpPr/>
          <p:nvPr/>
        </p:nvSpPr>
        <p:spPr bwMode="auto">
          <a:xfrm>
            <a:off x="4846320" y="4315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CCFBF1"/>
                </a:solidFill>
                <a:latin typeface="Consolas"/>
                <a:ea typeface="Consolas"/>
                <a:cs typeface="Consolas"/>
              </a:rPr>
              <a:t>+  0.05 × yaw_mag_tilt_compensated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343079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5505516" name="Text 1"/>
          <p:cNvSpPr/>
          <p:nvPr/>
        </p:nvSpPr>
        <p:spPr bwMode="auto"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PROTOCOLO WEBSOCKET</a:t>
            </a:r>
            <a:endParaRPr lang="en-US" sz="2800"/>
          </a:p>
        </p:txBody>
      </p:sp>
      <p:sp>
        <p:nvSpPr>
          <p:cNvPr id="1726748832" name="Text 2"/>
          <p:cNvSpPr/>
          <p:nvPr/>
        </p:nvSpPr>
        <p:spPr bwMode="auto"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Handshake RFC 6455 + frame JSON @ 50 Hz</a:t>
            </a:r>
            <a:endParaRPr lang="en-US" sz="1300"/>
          </a:p>
        </p:txBody>
      </p:sp>
      <p:sp>
        <p:nvSpPr>
          <p:cNvPr id="1209355538" name="Shape 3"/>
          <p:cNvSpPr/>
          <p:nvPr/>
        </p:nvSpPr>
        <p:spPr bwMode="auto">
          <a:xfrm>
            <a:off x="457200" y="111556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86130166" name="Shape 4"/>
          <p:cNvSpPr/>
          <p:nvPr/>
        </p:nvSpPr>
        <p:spPr bwMode="auto">
          <a:xfrm>
            <a:off x="274320" y="1261872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183305411" name="Shape 5"/>
          <p:cNvSpPr/>
          <p:nvPr/>
        </p:nvSpPr>
        <p:spPr bwMode="auto">
          <a:xfrm>
            <a:off x="274320" y="1261872"/>
            <a:ext cx="41148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70139680" name="Text 6"/>
          <p:cNvSpPr/>
          <p:nvPr/>
        </p:nvSpPr>
        <p:spPr bwMode="auto">
          <a:xfrm>
            <a:off x="274320" y="12618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Handshake RFC 6455</a:t>
            </a:r>
            <a:endParaRPr lang="en-US" sz="1100"/>
          </a:p>
        </p:txBody>
      </p:sp>
      <p:sp>
        <p:nvSpPr>
          <p:cNvPr id="779754588" name="Text 7"/>
          <p:cNvSpPr/>
          <p:nvPr/>
        </p:nvSpPr>
        <p:spPr bwMode="auto">
          <a:xfrm>
            <a:off x="365760" y="1645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Cliente: GET /ws HTTP/1.1</a:t>
            </a:r>
            <a:endParaRPr lang="en-US" sz="950"/>
          </a:p>
        </p:txBody>
      </p:sp>
      <p:sp>
        <p:nvSpPr>
          <p:cNvPr id="1670541283" name="Text 8"/>
          <p:cNvSpPr/>
          <p:nvPr/>
        </p:nvSpPr>
        <p:spPr bwMode="auto">
          <a:xfrm>
            <a:off x="365760" y="18653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Upgrade: websocket</a:t>
            </a:r>
            <a:endParaRPr lang="en-US" sz="950"/>
          </a:p>
        </p:txBody>
      </p:sp>
      <p:sp>
        <p:nvSpPr>
          <p:cNvPr id="494393005" name="Text 9"/>
          <p:cNvSpPr/>
          <p:nvPr/>
        </p:nvSpPr>
        <p:spPr bwMode="auto">
          <a:xfrm>
            <a:off x="365760" y="20848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Sec-WebSocket-Key: &lt;base64&gt;</a:t>
            </a:r>
            <a:endParaRPr lang="en-US" sz="950"/>
          </a:p>
        </p:txBody>
      </p:sp>
      <p:sp>
        <p:nvSpPr>
          <p:cNvPr id="1178326220" name="Text 10"/>
          <p:cNvSpPr/>
          <p:nvPr/>
        </p:nvSpPr>
        <p:spPr bwMode="auto">
          <a:xfrm>
            <a:off x="365760" y="23042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endParaRPr lang="en-US" sz="950"/>
          </a:p>
        </p:txBody>
      </p:sp>
      <p:sp>
        <p:nvSpPr>
          <p:cNvPr id="1303386979" name="Text 11"/>
          <p:cNvSpPr/>
          <p:nvPr/>
        </p:nvSpPr>
        <p:spPr bwMode="auto">
          <a:xfrm>
            <a:off x="365760" y="25237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Servidor calcula:</a:t>
            </a:r>
            <a:endParaRPr lang="en-US" sz="950"/>
          </a:p>
        </p:txBody>
      </p:sp>
      <p:sp>
        <p:nvSpPr>
          <p:cNvPr id="991077009" name="Text 12"/>
          <p:cNvSpPr/>
          <p:nvPr/>
        </p:nvSpPr>
        <p:spPr bwMode="auto">
          <a:xfrm>
            <a:off x="365760" y="27432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key = Sec-WS-Key + WS_MAGIC</a:t>
            </a:r>
            <a:endParaRPr lang="en-US" sz="950"/>
          </a:p>
        </p:txBody>
      </p:sp>
      <p:sp>
        <p:nvSpPr>
          <p:cNvPr id="994649125" name="Text 13"/>
          <p:cNvSpPr/>
          <p:nvPr/>
        </p:nvSpPr>
        <p:spPr bwMode="auto">
          <a:xfrm>
            <a:off x="365760" y="29626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accept = BASE64(SHA1(key))</a:t>
            </a:r>
            <a:endParaRPr lang="en-US" sz="950"/>
          </a:p>
        </p:txBody>
      </p:sp>
      <p:sp>
        <p:nvSpPr>
          <p:cNvPr id="1155680609" name="Text 14"/>
          <p:cNvSpPr/>
          <p:nvPr/>
        </p:nvSpPr>
        <p:spPr bwMode="auto">
          <a:xfrm>
            <a:off x="365760" y="31821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endParaRPr lang="en-US" sz="950"/>
          </a:p>
        </p:txBody>
      </p:sp>
      <p:sp>
        <p:nvSpPr>
          <p:cNvPr id="922773463" name="Text 15"/>
          <p:cNvSpPr/>
          <p:nvPr/>
        </p:nvSpPr>
        <p:spPr bwMode="auto">
          <a:xfrm>
            <a:off x="365760" y="3401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Responde: 101 Switching Protocols</a:t>
            </a:r>
            <a:endParaRPr lang="en-US" sz="950"/>
          </a:p>
        </p:txBody>
      </p:sp>
      <p:sp>
        <p:nvSpPr>
          <p:cNvPr id="604436339" name="Text 16"/>
          <p:cNvSpPr/>
          <p:nvPr/>
        </p:nvSpPr>
        <p:spPr bwMode="auto">
          <a:xfrm>
            <a:off x="365760" y="36210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Sec-WebSocket-Accept: &lt;accept&gt;</a:t>
            </a:r>
            <a:endParaRPr lang="en-US" sz="950"/>
          </a:p>
        </p:txBody>
      </p:sp>
      <p:sp>
        <p:nvSpPr>
          <p:cNvPr id="272963174" name="Text 17"/>
          <p:cNvSpPr/>
          <p:nvPr/>
        </p:nvSpPr>
        <p:spPr bwMode="auto">
          <a:xfrm>
            <a:off x="365760" y="3840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endParaRPr lang="en-US" sz="950"/>
          </a:p>
        </p:txBody>
      </p:sp>
      <p:sp>
        <p:nvSpPr>
          <p:cNvPr id="1319686466" name="Text 18"/>
          <p:cNvSpPr/>
          <p:nvPr/>
        </p:nvSpPr>
        <p:spPr bwMode="auto">
          <a:xfrm>
            <a:off x="365760" y="40599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Endpoint: ws://&lt;IP&gt;/ws</a:t>
            </a:r>
            <a:endParaRPr lang="en-US" sz="950"/>
          </a:p>
        </p:txBody>
      </p:sp>
      <p:sp>
        <p:nvSpPr>
          <p:cNvPr id="1458415596" name="Text 19"/>
          <p:cNvSpPr/>
          <p:nvPr/>
        </p:nvSpPr>
        <p:spPr bwMode="auto">
          <a:xfrm>
            <a:off x="365760" y="4279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Frame: FIN=1 opcode=0x1 (text)</a:t>
            </a:r>
            <a:endParaRPr lang="en-US" sz="950"/>
          </a:p>
        </p:txBody>
      </p:sp>
      <p:sp>
        <p:nvSpPr>
          <p:cNvPr id="354197430" name="Text 20"/>
          <p:cNvSpPr/>
          <p:nvPr/>
        </p:nvSpPr>
        <p:spPr bwMode="auto">
          <a:xfrm>
            <a:off x="365760" y="44988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Frecuencia: 50 Hz · UTF-8</a:t>
            </a:r>
            <a:endParaRPr lang="en-US" sz="950"/>
          </a:p>
        </p:txBody>
      </p:sp>
      <p:sp>
        <p:nvSpPr>
          <p:cNvPr id="726780727" name="Shape 21"/>
          <p:cNvSpPr/>
          <p:nvPr/>
        </p:nvSpPr>
        <p:spPr bwMode="auto">
          <a:xfrm>
            <a:off x="4572000" y="1261872"/>
            <a:ext cx="42519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659908350" name="Shape 22"/>
          <p:cNvSpPr/>
          <p:nvPr/>
        </p:nvSpPr>
        <p:spPr bwMode="auto">
          <a:xfrm>
            <a:off x="4572000" y="1261872"/>
            <a:ext cx="425196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17556539" name="Text 23"/>
          <p:cNvSpPr/>
          <p:nvPr/>
        </p:nvSpPr>
        <p:spPr bwMode="auto">
          <a:xfrm>
            <a:off x="4572000" y="126187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Frame JSON (ejemplo real)</a:t>
            </a:r>
            <a:endParaRPr lang="en-US" sz="1100"/>
          </a:p>
        </p:txBody>
      </p:sp>
      <p:sp>
        <p:nvSpPr>
          <p:cNvPr id="129823784" name="Text 24"/>
          <p:cNvSpPr/>
          <p:nvPr/>
        </p:nvSpPr>
        <p:spPr bwMode="auto">
          <a:xfrm>
            <a:off x="4681728" y="16642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{</a:t>
            </a:r>
            <a:endParaRPr lang="en-US" sz="950"/>
          </a:p>
        </p:txBody>
      </p:sp>
      <p:sp>
        <p:nvSpPr>
          <p:cNvPr id="1969109958" name="Text 25"/>
          <p:cNvSpPr/>
          <p:nvPr/>
        </p:nvSpPr>
        <p:spPr bwMode="auto">
          <a:xfrm>
            <a:off x="4681728" y="19202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"s1": false,</a:t>
            </a:r>
            <a:endParaRPr lang="en-US" sz="950"/>
          </a:p>
        </p:txBody>
      </p:sp>
      <p:sp>
        <p:nvSpPr>
          <p:cNvPr id="1246703206" name="Text 26"/>
          <p:cNvSpPr/>
          <p:nvPr/>
        </p:nvSpPr>
        <p:spPr bwMode="auto">
          <a:xfrm>
            <a:off x="4681728" y="21762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"s2": true,</a:t>
            </a:r>
            <a:endParaRPr lang="en-US" sz="950"/>
          </a:p>
        </p:txBody>
      </p:sp>
      <p:sp>
        <p:nvSpPr>
          <p:cNvPr id="633015447" name="Text 27"/>
          <p:cNvSpPr/>
          <p:nvPr/>
        </p:nvSpPr>
        <p:spPr bwMode="auto">
          <a:xfrm>
            <a:off x="4681728" y="2432303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"s3": false,</a:t>
            </a:r>
            <a:endParaRPr lang="en-US" sz="950"/>
          </a:p>
        </p:txBody>
      </p:sp>
      <p:sp>
        <p:nvSpPr>
          <p:cNvPr id="1180141565" name="Text 28"/>
          <p:cNvSpPr/>
          <p:nvPr/>
        </p:nvSpPr>
        <p:spPr bwMode="auto">
          <a:xfrm>
            <a:off x="4681728" y="26883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"gas_valve": false,</a:t>
            </a:r>
            <a:endParaRPr lang="en-US" sz="950"/>
          </a:p>
        </p:txBody>
      </p:sp>
      <p:sp>
        <p:nvSpPr>
          <p:cNvPr id="784397552" name="Text 29"/>
          <p:cNvSpPr/>
          <p:nvPr/>
        </p:nvSpPr>
        <p:spPr bwMode="auto">
          <a:xfrm>
            <a:off x="4681728" y="29443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366F1"/>
                </a:solidFill>
                <a:latin typeface="Consolas"/>
                <a:ea typeface="Consolas"/>
                <a:cs typeface="Consolas"/>
              </a:rPr>
              <a:t>  "roll": -3.12,</a:t>
            </a:r>
            <a:endParaRPr lang="en-US" sz="950"/>
          </a:p>
        </p:txBody>
      </p:sp>
      <p:sp>
        <p:nvSpPr>
          <p:cNvPr id="967092395" name="Text 30"/>
          <p:cNvSpPr/>
          <p:nvPr/>
        </p:nvSpPr>
        <p:spPr bwMode="auto">
          <a:xfrm>
            <a:off x="4681728" y="32004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366F1"/>
                </a:solidFill>
                <a:latin typeface="Consolas"/>
                <a:ea typeface="Consolas"/>
                <a:cs typeface="Consolas"/>
              </a:rPr>
              <a:t>  "pitch": 1.45,</a:t>
            </a:r>
            <a:endParaRPr lang="en-US" sz="950"/>
          </a:p>
        </p:txBody>
      </p:sp>
      <p:sp>
        <p:nvSpPr>
          <p:cNvPr id="259301227" name="Text 31"/>
          <p:cNvSpPr/>
          <p:nvPr/>
        </p:nvSpPr>
        <p:spPr bwMode="auto">
          <a:xfrm>
            <a:off x="4681728" y="34564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366F1"/>
                </a:solidFill>
                <a:latin typeface="Consolas"/>
                <a:ea typeface="Consolas"/>
                <a:cs typeface="Consolas"/>
              </a:rPr>
              <a:t>  "yaw": 183.0,</a:t>
            </a:r>
            <a:endParaRPr lang="en-US" sz="950"/>
          </a:p>
        </p:txBody>
      </p:sp>
      <p:sp>
        <p:nvSpPr>
          <p:cNvPr id="401258266" name="Text 32"/>
          <p:cNvSpPr/>
          <p:nvPr/>
        </p:nvSpPr>
        <p:spPr bwMode="auto">
          <a:xfrm>
            <a:off x="4681728" y="371246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366F1"/>
                </a:solidFill>
                <a:latin typeface="Consolas"/>
                <a:ea typeface="Consolas"/>
                <a:cs typeface="Consolas"/>
              </a:rPr>
              <a:t>  "yaw_signed": 3.0,</a:t>
            </a:r>
            <a:endParaRPr lang="en-US" sz="950"/>
          </a:p>
        </p:txBody>
      </p:sp>
      <p:sp>
        <p:nvSpPr>
          <p:cNvPr id="432500385" name="Text 33"/>
          <p:cNvSpPr/>
          <p:nvPr/>
        </p:nvSpPr>
        <p:spPr bwMode="auto">
          <a:xfrm>
            <a:off x="4681728" y="39684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  "enc_h": 42,</a:t>
            </a:r>
            <a:endParaRPr lang="en-US" sz="950"/>
          </a:p>
        </p:txBody>
      </p:sp>
      <p:sp>
        <p:nvSpPr>
          <p:cNvPr id="2109317983" name="Text 34"/>
          <p:cNvSpPr/>
          <p:nvPr/>
        </p:nvSpPr>
        <p:spPr bwMode="auto">
          <a:xfrm>
            <a:off x="4681728" y="42245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  "enc_v": -7,</a:t>
            </a:r>
            <a:endParaRPr lang="en-US" sz="950"/>
          </a:p>
        </p:txBody>
      </p:sp>
      <p:sp>
        <p:nvSpPr>
          <p:cNvPr id="520769624" name="Text 35"/>
          <p:cNvSpPr/>
          <p:nvPr/>
        </p:nvSpPr>
        <p:spPr bwMode="auto">
          <a:xfrm>
            <a:off x="4681728" y="44805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"ts": 12345</a:t>
            </a:r>
            <a:endParaRPr lang="en-US" sz="950"/>
          </a:p>
        </p:txBody>
      </p:sp>
      <p:sp>
        <p:nvSpPr>
          <p:cNvPr id="788301311" name="Text 36"/>
          <p:cNvSpPr/>
          <p:nvPr/>
        </p:nvSpPr>
        <p:spPr bwMode="auto">
          <a:xfrm>
            <a:off x="5671580" y="44622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144442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80595219" name="Text 1"/>
          <p:cNvSpPr/>
          <p:nvPr/>
        </p:nvSpPr>
        <p:spPr bwMode="auto"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DASHBOARD WEB UI</a:t>
            </a:r>
            <a:endParaRPr lang="en-US" sz="2800"/>
          </a:p>
        </p:txBody>
      </p:sp>
      <p:sp>
        <p:nvSpPr>
          <p:cNvPr id="1563068256" name="Text 2"/>
          <p:cNvSpPr/>
          <p:nvPr/>
        </p:nvSpPr>
        <p:spPr bwMode="auto"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Módulos JavaScript independientes sin dependencias propias</a:t>
            </a:r>
            <a:endParaRPr lang="en-US" sz="1300"/>
          </a:p>
        </p:txBody>
      </p:sp>
      <p:sp>
        <p:nvSpPr>
          <p:cNvPr id="1425644235" name="Shape 3"/>
          <p:cNvSpPr/>
          <p:nvPr/>
        </p:nvSpPr>
        <p:spPr bwMode="auto">
          <a:xfrm>
            <a:off x="457200" y="1115568"/>
            <a:ext cx="8229600" cy="2286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67882840" name="Shape 4"/>
          <p:cNvSpPr/>
          <p:nvPr/>
        </p:nvSpPr>
        <p:spPr bwMode="auto">
          <a:xfrm>
            <a:off x="256032" y="1298448"/>
            <a:ext cx="2724911" cy="1417320"/>
          </a:xfrm>
          <a:prstGeom prst="rect">
            <a:avLst/>
          </a:prstGeom>
          <a:solidFill>
            <a:srgbClr val="1B2B4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947105713" name="Shape 5"/>
          <p:cNvSpPr/>
          <p:nvPr/>
        </p:nvSpPr>
        <p:spPr bwMode="auto">
          <a:xfrm>
            <a:off x="256032" y="1298448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7449991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4048" y="1408176"/>
            <a:ext cx="292608" cy="292608"/>
          </a:xfrm>
          <a:prstGeom prst="rect">
            <a:avLst/>
          </a:prstGeom>
        </p:spPr>
      </p:pic>
      <p:sp>
        <p:nvSpPr>
          <p:cNvPr id="753796630" name="Text 6"/>
          <p:cNvSpPr/>
          <p:nvPr/>
        </p:nvSpPr>
        <p:spPr bwMode="auto">
          <a:xfrm>
            <a:off x="749808" y="138988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svg_bolt.js</a:t>
            </a:r>
            <a:endParaRPr lang="en-US" sz="1100"/>
          </a:p>
        </p:txBody>
      </p:sp>
      <p:sp>
        <p:nvSpPr>
          <p:cNvPr id="141392516" name="Text 7"/>
          <p:cNvSpPr/>
          <p:nvPr/>
        </p:nvSpPr>
        <p:spPr bwMode="auto">
          <a:xfrm>
            <a:off x="384048" y="181051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Animación SVG del cerrojo M2.50</a:t>
            </a:r>
            <a:endParaRPr lang="en-US" sz="950"/>
          </a:p>
        </p:txBody>
      </p:sp>
      <p:sp>
        <p:nvSpPr>
          <p:cNvPr id="1617296311" name="Text 8"/>
          <p:cNvSpPr/>
          <p:nvPr/>
        </p:nvSpPr>
        <p:spPr bwMode="auto">
          <a:xfrm>
            <a:off x="384048" y="208483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S1/S2/S3 → colores + posición piezas</a:t>
            </a:r>
            <a:endParaRPr lang="en-US" sz="950"/>
          </a:p>
        </p:txBody>
      </p:sp>
      <p:sp>
        <p:nvSpPr>
          <p:cNvPr id="1240944288" name="Text 9"/>
          <p:cNvSpPr/>
          <p:nvPr/>
        </p:nvSpPr>
        <p:spPr bwMode="auto">
          <a:xfrm>
            <a:off x="384048" y="235915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Sin dependencias · 60 fps nativo</a:t>
            </a:r>
            <a:endParaRPr lang="en-US" sz="950"/>
          </a:p>
        </p:txBody>
      </p:sp>
      <p:sp>
        <p:nvSpPr>
          <p:cNvPr id="2011910205" name="Shape 10"/>
          <p:cNvSpPr/>
          <p:nvPr/>
        </p:nvSpPr>
        <p:spPr bwMode="auto">
          <a:xfrm>
            <a:off x="3108960" y="1298448"/>
            <a:ext cx="2724911" cy="1417320"/>
          </a:xfrm>
          <a:prstGeom prst="rect">
            <a:avLst/>
          </a:prstGeom>
          <a:solidFill>
            <a:srgbClr val="1B2B4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470183236" name="Shape 11"/>
          <p:cNvSpPr/>
          <p:nvPr/>
        </p:nvSpPr>
        <p:spPr bwMode="auto">
          <a:xfrm>
            <a:off x="3108960" y="1298448"/>
            <a:ext cx="54864" cy="1417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210523922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236976" y="1408176"/>
            <a:ext cx="292608" cy="292608"/>
          </a:xfrm>
          <a:prstGeom prst="rect">
            <a:avLst/>
          </a:prstGeom>
        </p:spPr>
      </p:pic>
      <p:sp>
        <p:nvSpPr>
          <p:cNvPr id="349549731" name="Text 12"/>
          <p:cNvSpPr/>
          <p:nvPr/>
        </p:nvSpPr>
        <p:spPr bwMode="auto">
          <a:xfrm>
            <a:off x="3602735" y="138988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gauges.js</a:t>
            </a:r>
            <a:endParaRPr lang="en-US" sz="1100"/>
          </a:p>
        </p:txBody>
      </p:sp>
      <p:sp>
        <p:nvSpPr>
          <p:cNvPr id="1781872214" name="Text 13"/>
          <p:cNvSpPr/>
          <p:nvPr/>
        </p:nvSpPr>
        <p:spPr bwMode="auto">
          <a:xfrm>
            <a:off x="3236976" y="181051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Roll: horizonte artificial 220×110 px</a:t>
            </a:r>
            <a:endParaRPr lang="en-US" sz="950"/>
          </a:p>
        </p:txBody>
      </p:sp>
      <p:sp>
        <p:nvSpPr>
          <p:cNvPr id="1314553356" name="Text 14"/>
          <p:cNvSpPr/>
          <p:nvPr/>
        </p:nvSpPr>
        <p:spPr bwMode="auto">
          <a:xfrm>
            <a:off x="3236976" y="208483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Pitch: barra vertical 120×190 px</a:t>
            </a:r>
            <a:endParaRPr lang="en-US" sz="950"/>
          </a:p>
        </p:txBody>
      </p:sp>
      <p:sp>
        <p:nvSpPr>
          <p:cNvPr id="756566379" name="Text 15"/>
          <p:cNvSpPr/>
          <p:nvPr/>
        </p:nvSpPr>
        <p:spPr bwMode="auto">
          <a:xfrm>
            <a:off x="3236976" y="235915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Yaw: slider horizontal 220×60 px</a:t>
            </a:r>
            <a:endParaRPr lang="en-US" sz="950"/>
          </a:p>
        </p:txBody>
      </p:sp>
      <p:sp>
        <p:nvSpPr>
          <p:cNvPr id="1542763995" name="Shape 16"/>
          <p:cNvSpPr/>
          <p:nvPr/>
        </p:nvSpPr>
        <p:spPr bwMode="auto">
          <a:xfrm>
            <a:off x="5961888" y="1298448"/>
            <a:ext cx="2724911" cy="1417320"/>
          </a:xfrm>
          <a:prstGeom prst="rect">
            <a:avLst/>
          </a:prstGeom>
          <a:solidFill>
            <a:srgbClr val="1B2B4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593712606" name="Shape 17"/>
          <p:cNvSpPr/>
          <p:nvPr/>
        </p:nvSpPr>
        <p:spPr bwMode="auto">
          <a:xfrm>
            <a:off x="5961888" y="1298448"/>
            <a:ext cx="54864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27752966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089904" y="1408176"/>
            <a:ext cx="292608" cy="292608"/>
          </a:xfrm>
          <a:prstGeom prst="rect">
            <a:avLst/>
          </a:prstGeom>
        </p:spPr>
      </p:pic>
      <p:sp>
        <p:nvSpPr>
          <p:cNvPr id="1005761348" name="Text 18"/>
          <p:cNvSpPr/>
          <p:nvPr/>
        </p:nvSpPr>
        <p:spPr bwMode="auto">
          <a:xfrm>
            <a:off x="6455664" y="138988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encoders.js</a:t>
            </a:r>
            <a:endParaRPr lang="en-US" sz="1100"/>
          </a:p>
        </p:txBody>
      </p:sp>
      <p:sp>
        <p:nvSpPr>
          <p:cNvPr id="1108609478" name="Text 19"/>
          <p:cNvSpPr/>
          <p:nvPr/>
        </p:nvSpPr>
        <p:spPr bwMode="auto">
          <a:xfrm>
            <a:off x="6089904" y="181051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Contadores digitales ENC_H / ENC_V</a:t>
            </a:r>
            <a:endParaRPr lang="en-US" sz="950"/>
          </a:p>
        </p:txBody>
      </p:sp>
      <p:sp>
        <p:nvSpPr>
          <p:cNvPr id="704549571" name="Text 20"/>
          <p:cNvSpPr/>
          <p:nvPr/>
        </p:nvSpPr>
        <p:spPr bwMode="auto">
          <a:xfrm>
            <a:off x="6089904" y="208483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Brújula SVG para heading</a:t>
            </a:r>
            <a:endParaRPr lang="en-US" sz="950"/>
          </a:p>
        </p:txBody>
      </p:sp>
      <p:sp>
        <p:nvSpPr>
          <p:cNvPr id="1313766407" name="Text 21"/>
          <p:cNvSpPr/>
          <p:nvPr/>
        </p:nvSpPr>
        <p:spPr bwMode="auto">
          <a:xfrm>
            <a:off x="6089904" y="235915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Reset por botón de navbar</a:t>
            </a:r>
            <a:endParaRPr lang="en-US" sz="950"/>
          </a:p>
        </p:txBody>
      </p:sp>
      <p:sp>
        <p:nvSpPr>
          <p:cNvPr id="1297486220" name="Shape 22"/>
          <p:cNvSpPr/>
          <p:nvPr/>
        </p:nvSpPr>
        <p:spPr bwMode="auto">
          <a:xfrm>
            <a:off x="256032" y="2843784"/>
            <a:ext cx="2724911" cy="1417320"/>
          </a:xfrm>
          <a:prstGeom prst="rect">
            <a:avLst/>
          </a:prstGeom>
          <a:solidFill>
            <a:srgbClr val="1B2B4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852888189" name="Shape 23"/>
          <p:cNvSpPr/>
          <p:nvPr/>
        </p:nvSpPr>
        <p:spPr bwMode="auto">
          <a:xfrm>
            <a:off x="256032" y="2843784"/>
            <a:ext cx="54864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948242356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84048" y="2953512"/>
            <a:ext cx="292608" cy="292608"/>
          </a:xfrm>
          <a:prstGeom prst="rect">
            <a:avLst/>
          </a:prstGeom>
        </p:spPr>
      </p:pic>
      <p:sp>
        <p:nvSpPr>
          <p:cNvPr id="788543695" name="Text 24"/>
          <p:cNvSpPr/>
          <p:nvPr/>
        </p:nvSpPr>
        <p:spPr bwMode="auto">
          <a:xfrm>
            <a:off x="749808" y="293522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charts.js</a:t>
            </a:r>
            <a:endParaRPr lang="en-US" sz="1100"/>
          </a:p>
        </p:txBody>
      </p:sp>
      <p:sp>
        <p:nvSpPr>
          <p:cNvPr id="1865577055" name="Text 25"/>
          <p:cNvSpPr/>
          <p:nvPr/>
        </p:nvSpPr>
        <p:spPr bwMode="auto">
          <a:xfrm>
            <a:off x="384048" y="33558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5 paneles Plotly.js rolling</a:t>
            </a:r>
            <a:endParaRPr lang="en-US" sz="950"/>
          </a:p>
        </p:txBody>
      </p:sp>
      <p:sp>
        <p:nvSpPr>
          <p:cNvPr id="329578254" name="Text 26"/>
          <p:cNvSpPr/>
          <p:nvPr/>
        </p:nvSpPr>
        <p:spPr bwMode="auto">
          <a:xfrm>
            <a:off x="384048" y="36301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Buffer 60 s configurable</a:t>
            </a:r>
            <a:endParaRPr lang="en-US" sz="950"/>
          </a:p>
        </p:txBody>
      </p:sp>
      <p:sp>
        <p:nvSpPr>
          <p:cNvPr id="1922095761" name="Text 27"/>
          <p:cNvSpPr/>
          <p:nvPr/>
        </p:nvSpPr>
        <p:spPr bwMode="auto">
          <a:xfrm>
            <a:off x="384048" y="390448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Cadencia · IMU · Encoders · S1/S2/S3</a:t>
            </a:r>
            <a:endParaRPr lang="en-US" sz="950"/>
          </a:p>
        </p:txBody>
      </p:sp>
      <p:sp>
        <p:nvSpPr>
          <p:cNvPr id="972648131" name="Shape 28"/>
          <p:cNvSpPr/>
          <p:nvPr/>
        </p:nvSpPr>
        <p:spPr bwMode="auto">
          <a:xfrm>
            <a:off x="3108960" y="2843784"/>
            <a:ext cx="2724911" cy="1417320"/>
          </a:xfrm>
          <a:prstGeom prst="rect">
            <a:avLst/>
          </a:prstGeom>
          <a:solidFill>
            <a:srgbClr val="1B2B4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59540950" name="Shape 29"/>
          <p:cNvSpPr/>
          <p:nvPr/>
        </p:nvSpPr>
        <p:spPr bwMode="auto">
          <a:xfrm>
            <a:off x="3108960" y="2843784"/>
            <a:ext cx="54864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13830809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236976" y="2953512"/>
            <a:ext cx="292608" cy="292608"/>
          </a:xfrm>
          <a:prstGeom prst="rect">
            <a:avLst/>
          </a:prstGeom>
        </p:spPr>
      </p:pic>
      <p:sp>
        <p:nvSpPr>
          <p:cNvPr id="385039607" name="Text 30"/>
          <p:cNvSpPr/>
          <p:nvPr/>
        </p:nvSpPr>
        <p:spPr bwMode="auto">
          <a:xfrm>
            <a:off x="3602735" y="293522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ws_client.js</a:t>
            </a:r>
            <a:endParaRPr lang="en-US" sz="1100"/>
          </a:p>
        </p:txBody>
      </p:sp>
      <p:sp>
        <p:nvSpPr>
          <p:cNvPr id="2040808730" name="Text 31"/>
          <p:cNvSpPr/>
          <p:nvPr/>
        </p:nvSpPr>
        <p:spPr bwMode="auto">
          <a:xfrm>
            <a:off x="3236976" y="33558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Simulación offline inmediata</a:t>
            </a:r>
            <a:endParaRPr lang="en-US" sz="950"/>
          </a:p>
        </p:txBody>
      </p:sp>
      <p:sp>
        <p:nvSpPr>
          <p:cNvPr id="2006332443" name="Text 32"/>
          <p:cNvSpPr/>
          <p:nvPr/>
        </p:nvSpPr>
        <p:spPr bwMode="auto">
          <a:xfrm>
            <a:off x="3236976" y="36301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Backoff exponencial 1→30 s</a:t>
            </a:r>
            <a:endParaRPr lang="en-US" sz="950"/>
          </a:p>
        </p:txBody>
      </p:sp>
      <p:sp>
        <p:nvSpPr>
          <p:cNvPr id="728868357" name="Text 33"/>
          <p:cNvSpPr/>
          <p:nvPr/>
        </p:nvSpPr>
        <p:spPr bwMode="auto">
          <a:xfrm>
            <a:off x="3236976" y="390448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requestAnimationFrame único loop</a:t>
            </a:r>
            <a:endParaRPr lang="en-US" sz="950"/>
          </a:p>
        </p:txBody>
      </p:sp>
      <p:sp>
        <p:nvSpPr>
          <p:cNvPr id="1030252737" name="Shape 34"/>
          <p:cNvSpPr/>
          <p:nvPr/>
        </p:nvSpPr>
        <p:spPr bwMode="auto">
          <a:xfrm>
            <a:off x="5961888" y="2843784"/>
            <a:ext cx="2724911" cy="1417320"/>
          </a:xfrm>
          <a:prstGeom prst="rect">
            <a:avLst/>
          </a:prstGeom>
          <a:solidFill>
            <a:srgbClr val="1B2B4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807779851" name="Shape 35"/>
          <p:cNvSpPr/>
          <p:nvPr/>
        </p:nvSpPr>
        <p:spPr bwMode="auto">
          <a:xfrm>
            <a:off x="5961888" y="2843784"/>
            <a:ext cx="54864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317944313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089904" y="2953512"/>
            <a:ext cx="292608" cy="292608"/>
          </a:xfrm>
          <a:prstGeom prst="rect">
            <a:avLst/>
          </a:prstGeom>
        </p:spPr>
      </p:pic>
      <p:sp>
        <p:nvSpPr>
          <p:cNvPr id="1097432635" name="Text 36"/>
          <p:cNvSpPr/>
          <p:nvPr/>
        </p:nvSpPr>
        <p:spPr bwMode="auto">
          <a:xfrm>
            <a:off x="6455664" y="293522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bt_toggle.js</a:t>
            </a:r>
            <a:endParaRPr lang="en-US" sz="1100"/>
          </a:p>
        </p:txBody>
      </p:sp>
      <p:sp>
        <p:nvSpPr>
          <p:cNvPr id="438538368" name="Text 37"/>
          <p:cNvSpPr/>
          <p:nvPr/>
        </p:nvSpPr>
        <p:spPr bwMode="auto">
          <a:xfrm>
            <a:off x="6089904" y="33558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7 botones para mostrar/ocultar paneles</a:t>
            </a:r>
            <a:endParaRPr lang="en-US" sz="950"/>
          </a:p>
        </p:txBody>
      </p:sp>
      <p:sp>
        <p:nvSpPr>
          <p:cNvPr id="1097871761" name="Text 38"/>
          <p:cNvSpPr/>
          <p:nvPr/>
        </p:nvSpPr>
        <p:spPr bwMode="auto">
          <a:xfrm>
            <a:off x="6089904" y="36301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POST /api/calibrate/{yaw,pitch,roll}</a:t>
            </a:r>
            <a:endParaRPr lang="en-US" sz="950"/>
          </a:p>
        </p:txBody>
      </p:sp>
      <p:sp>
        <p:nvSpPr>
          <p:cNvPr id="1483224344" name="Text 39"/>
          <p:cNvSpPr/>
          <p:nvPr/>
        </p:nvSpPr>
        <p:spPr bwMode="auto">
          <a:xfrm>
            <a:off x="6089904" y="390448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▸  Navbar sticky, responsive 980/768/480 px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485299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350915" name="Text 1"/>
          <p:cNvSpPr/>
          <p:nvPr/>
        </p:nvSpPr>
        <p:spPr bwMode="auto"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USB HID — MOUSE ABSOLUTO</a:t>
            </a:r>
            <a:endParaRPr lang="en-US" sz="2800"/>
          </a:p>
        </p:txBody>
      </p:sp>
      <p:sp>
        <p:nvSpPr>
          <p:cNvPr id="2147365348" name="Text 2"/>
          <p:cNvSpPr/>
          <p:nvPr/>
        </p:nvSpPr>
        <p:spPr bwMode="auto"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Encoders → cursor del PC en tiempo real via USB OTG</a:t>
            </a:r>
            <a:endParaRPr lang="en-US" sz="1300"/>
          </a:p>
        </p:txBody>
      </p:sp>
      <p:sp>
        <p:nvSpPr>
          <p:cNvPr id="1277846031" name="Shape 3"/>
          <p:cNvSpPr/>
          <p:nvPr/>
        </p:nvSpPr>
        <p:spPr bwMode="auto">
          <a:xfrm>
            <a:off x="457200" y="111556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0340226" name="Shape 4"/>
          <p:cNvSpPr/>
          <p:nvPr/>
        </p:nvSpPr>
        <p:spPr bwMode="auto">
          <a:xfrm>
            <a:off x="274320" y="1261872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079246333" name="Shape 5"/>
          <p:cNvSpPr/>
          <p:nvPr/>
        </p:nvSpPr>
        <p:spPr bwMode="auto">
          <a:xfrm>
            <a:off x="274320" y="1261872"/>
            <a:ext cx="41148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05227698" name="Text 6"/>
          <p:cNvSpPr/>
          <p:nvPr/>
        </p:nvSpPr>
        <p:spPr bwMode="auto">
          <a:xfrm>
            <a:off x="274320" y="12618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funciona?</a:t>
            </a:r>
            <a:endParaRPr lang="en-US" sz="1200"/>
          </a:p>
        </p:txBody>
      </p:sp>
      <p:sp>
        <p:nvSpPr>
          <p:cNvPr id="61061735" name="Shape 7"/>
          <p:cNvSpPr/>
          <p:nvPr/>
        </p:nvSpPr>
        <p:spPr bwMode="auto">
          <a:xfrm>
            <a:off x="384048" y="1691640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0855875" name="Text 8"/>
          <p:cNvSpPr/>
          <p:nvPr/>
        </p:nvSpPr>
        <p:spPr bwMode="auto">
          <a:xfrm>
            <a:off x="384048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300"/>
          </a:p>
        </p:txBody>
      </p:sp>
      <p:sp>
        <p:nvSpPr>
          <p:cNvPr id="839493204" name="Text 9"/>
          <p:cNvSpPr/>
          <p:nvPr/>
        </p:nvSpPr>
        <p:spPr bwMode="auto">
          <a:xfrm>
            <a:off x="822960" y="16916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Encoders → coordenadas absolutas</a:t>
            </a:r>
            <a:endParaRPr lang="en-US" sz="1150"/>
          </a:p>
        </p:txBody>
      </p:sp>
      <p:sp>
        <p:nvSpPr>
          <p:cNvPr id="1434408024" name="Text 10"/>
          <p:cNvSpPr/>
          <p:nvPr/>
        </p:nvSpPr>
        <p:spPr bwMode="auto">
          <a:xfrm>
            <a:off x="822960" y="198424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ENC_H=0 → X=16383 (centro)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Rango [-1000,+1000] → [0,32767]</a:t>
            </a:r>
            <a:endParaRPr lang="en-US" sz="1000"/>
          </a:p>
        </p:txBody>
      </p:sp>
      <p:sp>
        <p:nvSpPr>
          <p:cNvPr id="861419505" name="Shape 11"/>
          <p:cNvSpPr/>
          <p:nvPr/>
        </p:nvSpPr>
        <p:spPr bwMode="auto">
          <a:xfrm>
            <a:off x="384048" y="2788920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63031671" name="Text 12"/>
          <p:cNvSpPr/>
          <p:nvPr/>
        </p:nvSpPr>
        <p:spPr bwMode="auto">
          <a:xfrm>
            <a:off x="384048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300"/>
          </a:p>
        </p:txBody>
      </p:sp>
      <p:sp>
        <p:nvSpPr>
          <p:cNvPr id="651468887" name="Text 13"/>
          <p:cNvSpPr/>
          <p:nvPr/>
        </p:nvSpPr>
        <p:spPr bwMode="auto">
          <a:xfrm>
            <a:off x="822960" y="27889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S3 flanco ↑ → botón izquierdo</a:t>
            </a:r>
            <a:endParaRPr lang="en-US" sz="1150"/>
          </a:p>
        </p:txBody>
      </p:sp>
      <p:sp>
        <p:nvSpPr>
          <p:cNvPr id="769276806" name="Text 14"/>
          <p:cNvSpPr/>
          <p:nvPr/>
        </p:nvSpPr>
        <p:spPr bwMode="auto">
          <a:xfrm>
            <a:off x="822960" y="308152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Duración: HID_CLICK_MS (60 ms)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Sin acumulación → clic limpio</a:t>
            </a:r>
            <a:endParaRPr lang="en-US" sz="1000"/>
          </a:p>
        </p:txBody>
      </p:sp>
      <p:sp>
        <p:nvSpPr>
          <p:cNvPr id="670537722" name="Shape 15"/>
          <p:cNvSpPr/>
          <p:nvPr/>
        </p:nvSpPr>
        <p:spPr bwMode="auto">
          <a:xfrm>
            <a:off x="384048" y="3886200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20441769" name="Text 16"/>
          <p:cNvSpPr/>
          <p:nvPr/>
        </p:nvSpPr>
        <p:spPr bwMode="auto">
          <a:xfrm>
            <a:off x="384048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300"/>
          </a:p>
        </p:txBody>
      </p:sp>
      <p:sp>
        <p:nvSpPr>
          <p:cNvPr id="1835853153" name="Text 17"/>
          <p:cNvSpPr/>
          <p:nvPr/>
        </p:nvSpPr>
        <p:spPr bwMode="auto">
          <a:xfrm>
            <a:off x="822960" y="38862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Descriptor HID: 5 bytes/reporte</a:t>
            </a:r>
            <a:endParaRPr lang="en-US" sz="1150"/>
          </a:p>
        </p:txBody>
      </p:sp>
      <p:sp>
        <p:nvSpPr>
          <p:cNvPr id="644170071" name="Text 18"/>
          <p:cNvSpPr/>
          <p:nvPr/>
        </p:nvSpPr>
        <p:spPr bwMode="auto">
          <a:xfrm>
            <a:off x="822960" y="417880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byte botones + 2×uint16 X/Y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Reporte @50 Hz por USB OTG</a:t>
            </a:r>
            <a:endParaRPr lang="en-US" sz="1000"/>
          </a:p>
        </p:txBody>
      </p:sp>
      <p:sp>
        <p:nvSpPr>
          <p:cNvPr id="539167566" name="Shape 19"/>
          <p:cNvSpPr/>
          <p:nvPr/>
        </p:nvSpPr>
        <p:spPr bwMode="auto">
          <a:xfrm>
            <a:off x="4572000" y="1261872"/>
            <a:ext cx="42519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86440494" name="Shape 20"/>
          <p:cNvSpPr/>
          <p:nvPr/>
        </p:nvSpPr>
        <p:spPr bwMode="auto">
          <a:xfrm>
            <a:off x="4572000" y="1261872"/>
            <a:ext cx="425196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660280" name="Text 21"/>
          <p:cNvSpPr/>
          <p:nvPr/>
        </p:nvSpPr>
        <p:spPr bwMode="auto">
          <a:xfrm>
            <a:off x="4572000" y="126187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Cascada de inicialización</a:t>
            </a:r>
            <a:endParaRPr lang="en-US" sz="1200"/>
          </a:p>
        </p:txBody>
      </p:sp>
      <p:sp>
        <p:nvSpPr>
          <p:cNvPr id="1089924136" name="Text 22"/>
          <p:cNvSpPr/>
          <p:nvPr/>
        </p:nvSpPr>
        <p:spPr bwMode="auto">
          <a:xfrm>
            <a:off x="4681728" y="16642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init_hid() en main.py</a:t>
            </a:r>
            <a:endParaRPr lang="en-US" sz="950"/>
          </a:p>
        </p:txBody>
      </p:sp>
      <p:sp>
        <p:nvSpPr>
          <p:cNvPr id="1720977232" name="Text 23"/>
          <p:cNvSpPr/>
          <p:nvPr/>
        </p:nvSpPr>
        <p:spPr bwMode="auto">
          <a:xfrm>
            <a:off x="4681728" y="19933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  Intenta: usb.device.hid</a:t>
            </a:r>
            <a:endParaRPr lang="en-US" sz="950"/>
          </a:p>
        </p:txBody>
      </p:sp>
      <p:sp>
        <p:nvSpPr>
          <p:cNvPr id="1204421104" name="Text 24"/>
          <p:cNvSpPr/>
          <p:nvPr/>
        </p:nvSpPr>
        <p:spPr bwMode="auto">
          <a:xfrm>
            <a:off x="4681728" y="23225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→ HID activo ✓</a:t>
            </a:r>
            <a:endParaRPr lang="en-US" sz="950"/>
          </a:p>
        </p:txBody>
      </p:sp>
      <p:sp>
        <p:nvSpPr>
          <p:cNvPr id="1449611177" name="Text 25"/>
          <p:cNvSpPr/>
          <p:nvPr/>
        </p:nvSpPr>
        <p:spPr bwMode="auto">
          <a:xfrm>
            <a:off x="4681728" y="26517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Falla ImportError →</a:t>
            </a:r>
            <a:endParaRPr lang="en-US" sz="950"/>
          </a:p>
        </p:txBody>
      </p:sp>
      <p:sp>
        <p:nvSpPr>
          <p:cNvPr id="257407772" name="Text 26"/>
          <p:cNvSpPr/>
          <p:nvPr/>
        </p:nvSpPr>
        <p:spPr bwMode="auto">
          <a:xfrm>
            <a:off x="4681728" y="29809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  Intenta mip.install('usb-device-hid')</a:t>
            </a:r>
            <a:endParaRPr lang="en-US" sz="950"/>
          </a:p>
        </p:txBody>
      </p:sp>
      <p:sp>
        <p:nvSpPr>
          <p:cNvPr id="664321733" name="Text 27"/>
          <p:cNvSpPr/>
          <p:nvPr/>
        </p:nvSpPr>
        <p:spPr bwMode="auto">
          <a:xfrm>
            <a:off x="4681728" y="3310127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→ Reintentar init</a:t>
            </a:r>
            <a:endParaRPr lang="en-US" sz="950"/>
          </a:p>
        </p:txBody>
      </p:sp>
      <p:sp>
        <p:nvSpPr>
          <p:cNvPr id="467772302" name="Text 28"/>
          <p:cNvSpPr/>
          <p:nvPr/>
        </p:nvSpPr>
        <p:spPr bwMode="auto">
          <a:xfrm>
            <a:off x="4681728" y="36393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Falla AttributeError →</a:t>
            </a:r>
            <a:endParaRPr lang="en-US" sz="950"/>
          </a:p>
        </p:txBody>
      </p:sp>
      <p:sp>
        <p:nvSpPr>
          <p:cNvPr id="655487813" name="Text 29"/>
          <p:cNvSpPr/>
          <p:nvPr/>
        </p:nvSpPr>
        <p:spPr bwMode="auto">
          <a:xfrm>
            <a:off x="4681728" y="396849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  Fallback silencioso</a:t>
            </a:r>
            <a:endParaRPr lang="en-US" sz="950"/>
          </a:p>
        </p:txBody>
      </p:sp>
      <p:sp>
        <p:nvSpPr>
          <p:cNvPr id="1593337088" name="Text 30"/>
          <p:cNvSpPr/>
          <p:nvPr/>
        </p:nvSpPr>
        <p:spPr bwMode="auto">
          <a:xfrm>
            <a:off x="4681728" y="4297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Sistema continúa sin HID</a:t>
            </a:r>
            <a:endParaRPr lang="en-US" sz="950"/>
          </a:p>
        </p:txBody>
      </p:sp>
      <p:sp>
        <p:nvSpPr>
          <p:cNvPr id="583430028" name="Shape 31"/>
          <p:cNvSpPr/>
          <p:nvPr/>
        </p:nvSpPr>
        <p:spPr bwMode="auto">
          <a:xfrm>
            <a:off x="4572000" y="4645152"/>
            <a:ext cx="425196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30444579" name="Text 32"/>
          <p:cNvSpPr/>
          <p:nvPr/>
        </p:nvSpPr>
        <p:spPr bwMode="auto">
          <a:xfrm>
            <a:off x="4645152" y="46451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92400E"/>
                </a:solidFill>
                <a:latin typeface="Consolas"/>
                <a:ea typeface="Consolas"/>
                <a:cs typeface="Consolas"/>
              </a:rPr>
              <a:t>Requiere: ESP32_GENERIC_S3-USB-*.bin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164698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1286944" name="Text 1"/>
          <p:cNvSpPr/>
          <p:nvPr/>
        </p:nvSpPr>
        <p:spPr bwMode="auto"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MODO SIMULACIÓN</a:t>
            </a:r>
            <a:endParaRPr lang="en-US" sz="2800"/>
          </a:p>
        </p:txBody>
      </p:sp>
      <p:sp>
        <p:nvSpPr>
          <p:cNvPr id="1492469494" name="Text 2"/>
          <p:cNvSpPr/>
          <p:nvPr/>
        </p:nvSpPr>
        <p:spPr bwMode="auto"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SIMULATE_SENSORS = True  —  sin hardware externo requerido</a:t>
            </a:r>
            <a:endParaRPr lang="en-US" sz="1300"/>
          </a:p>
        </p:txBody>
      </p:sp>
      <p:sp>
        <p:nvSpPr>
          <p:cNvPr id="155101223" name="Shape 3"/>
          <p:cNvSpPr/>
          <p:nvPr/>
        </p:nvSpPr>
        <p:spPr bwMode="auto">
          <a:xfrm>
            <a:off x="457200" y="1115568"/>
            <a:ext cx="8229600" cy="2286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959416612" name="Shape 4"/>
          <p:cNvSpPr/>
          <p:nvPr/>
        </p:nvSpPr>
        <p:spPr bwMode="auto">
          <a:xfrm>
            <a:off x="274320" y="1261872"/>
            <a:ext cx="4846320" cy="2926080"/>
          </a:xfrm>
          <a:prstGeom prst="rect">
            <a:avLst/>
          </a:prstGeom>
          <a:solidFill>
            <a:srgbClr val="1B2B4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47351145" name="Shape 5"/>
          <p:cNvSpPr/>
          <p:nvPr/>
        </p:nvSpPr>
        <p:spPr bwMode="auto">
          <a:xfrm>
            <a:off x="274320" y="1261872"/>
            <a:ext cx="48463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03639401" name="Text 6"/>
          <p:cNvSpPr/>
          <p:nvPr/>
        </p:nvSpPr>
        <p:spPr bwMode="auto">
          <a:xfrm>
            <a:off x="274320" y="12618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Máquina de estados del ciclo de disparo</a:t>
            </a:r>
            <a:endParaRPr lang="en-US" sz="1100"/>
          </a:p>
        </p:txBody>
      </p:sp>
      <p:sp>
        <p:nvSpPr>
          <p:cNvPr id="1192146595" name="Text 7"/>
          <p:cNvSpPr/>
          <p:nvPr/>
        </p:nvSpPr>
        <p:spPr bwMode="auto">
          <a:xfrm>
            <a:off x="347472" y="1600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Fase</a:t>
            </a:r>
            <a:endParaRPr lang="en-US" sz="950"/>
          </a:p>
        </p:txBody>
      </p:sp>
      <p:sp>
        <p:nvSpPr>
          <p:cNvPr id="1874461393" name="Text 8"/>
          <p:cNvSpPr/>
          <p:nvPr/>
        </p:nvSpPr>
        <p:spPr bwMode="auto">
          <a:xfrm>
            <a:off x="1152144" y="1600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Fracción</a:t>
            </a:r>
            <a:endParaRPr lang="en-US" sz="950"/>
          </a:p>
        </p:txBody>
      </p:sp>
      <p:sp>
        <p:nvSpPr>
          <p:cNvPr id="1843508114" name="Text 9"/>
          <p:cNvSpPr/>
          <p:nvPr/>
        </p:nvSpPr>
        <p:spPr bwMode="auto">
          <a:xfrm>
            <a:off x="1956816" y="1600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S1</a:t>
            </a:r>
            <a:endParaRPr lang="en-US" sz="950"/>
          </a:p>
        </p:txBody>
      </p:sp>
      <p:sp>
        <p:nvSpPr>
          <p:cNvPr id="149053072" name="Text 10"/>
          <p:cNvSpPr/>
          <p:nvPr/>
        </p:nvSpPr>
        <p:spPr bwMode="auto">
          <a:xfrm>
            <a:off x="2761488" y="1600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S2</a:t>
            </a:r>
            <a:endParaRPr lang="en-US" sz="950"/>
          </a:p>
        </p:txBody>
      </p:sp>
      <p:sp>
        <p:nvSpPr>
          <p:cNvPr id="1010161805" name="Text 11"/>
          <p:cNvSpPr/>
          <p:nvPr/>
        </p:nvSpPr>
        <p:spPr bwMode="auto">
          <a:xfrm>
            <a:off x="3566160" y="1600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S3</a:t>
            </a:r>
            <a:endParaRPr lang="en-US" sz="950"/>
          </a:p>
        </p:txBody>
      </p:sp>
      <p:sp>
        <p:nvSpPr>
          <p:cNvPr id="41118020" name="Text 12"/>
          <p:cNvSpPr/>
          <p:nvPr/>
        </p:nvSpPr>
        <p:spPr bwMode="auto">
          <a:xfrm>
            <a:off x="4370832" y="1600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Estado</a:t>
            </a:r>
            <a:endParaRPr lang="en-US" sz="950"/>
          </a:p>
        </p:txBody>
      </p:sp>
      <p:sp>
        <p:nvSpPr>
          <p:cNvPr id="1756919625" name="Shape 13"/>
          <p:cNvSpPr/>
          <p:nvPr/>
        </p:nvSpPr>
        <p:spPr bwMode="auto">
          <a:xfrm>
            <a:off x="347472" y="1920240"/>
            <a:ext cx="777240" cy="347472"/>
          </a:xfrm>
          <a:prstGeom prst="rect">
            <a:avLst/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648358942" name="Text 14"/>
          <p:cNvSpPr/>
          <p:nvPr/>
        </p:nvSpPr>
        <p:spPr bwMode="auto">
          <a:xfrm>
            <a:off x="347472" y="19202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000"/>
          </a:p>
        </p:txBody>
      </p:sp>
      <p:sp>
        <p:nvSpPr>
          <p:cNvPr id="154942627" name="Shape 15"/>
          <p:cNvSpPr/>
          <p:nvPr/>
        </p:nvSpPr>
        <p:spPr bwMode="auto">
          <a:xfrm>
            <a:off x="1152144" y="1920240"/>
            <a:ext cx="777240" cy="347472"/>
          </a:xfrm>
          <a:prstGeom prst="rect">
            <a:avLst/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758929814" name="Text 16"/>
          <p:cNvSpPr/>
          <p:nvPr/>
        </p:nvSpPr>
        <p:spPr bwMode="auto">
          <a:xfrm>
            <a:off x="1152144" y="19202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0–30%</a:t>
            </a:r>
            <a:endParaRPr lang="en-US" sz="1000"/>
          </a:p>
        </p:txBody>
      </p:sp>
      <p:sp>
        <p:nvSpPr>
          <p:cNvPr id="385263381" name="Shape 17"/>
          <p:cNvSpPr/>
          <p:nvPr/>
        </p:nvSpPr>
        <p:spPr bwMode="auto">
          <a:xfrm>
            <a:off x="1956816" y="1920240"/>
            <a:ext cx="777240" cy="347472"/>
          </a:xfrm>
          <a:prstGeom prst="rect">
            <a:avLst/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44583474" name="Text 18"/>
          <p:cNvSpPr/>
          <p:nvPr/>
        </p:nvSpPr>
        <p:spPr bwMode="auto">
          <a:xfrm>
            <a:off x="1956816" y="19202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000"/>
          </a:p>
        </p:txBody>
      </p:sp>
      <p:sp>
        <p:nvSpPr>
          <p:cNvPr id="547582344" name="Shape 19"/>
          <p:cNvSpPr/>
          <p:nvPr/>
        </p:nvSpPr>
        <p:spPr bwMode="auto">
          <a:xfrm>
            <a:off x="2761488" y="1920240"/>
            <a:ext cx="777240" cy="347472"/>
          </a:xfrm>
          <a:prstGeom prst="rect">
            <a:avLst/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742975419" name="Text 20"/>
          <p:cNvSpPr/>
          <p:nvPr/>
        </p:nvSpPr>
        <p:spPr bwMode="auto">
          <a:xfrm>
            <a:off x="2761488" y="19202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—</a:t>
            </a:r>
            <a:endParaRPr lang="en-US" sz="1000"/>
          </a:p>
        </p:txBody>
      </p:sp>
      <p:sp>
        <p:nvSpPr>
          <p:cNvPr id="1379358770" name="Shape 21"/>
          <p:cNvSpPr/>
          <p:nvPr/>
        </p:nvSpPr>
        <p:spPr bwMode="auto">
          <a:xfrm>
            <a:off x="3566160" y="1920240"/>
            <a:ext cx="777240" cy="347472"/>
          </a:xfrm>
          <a:prstGeom prst="rect">
            <a:avLst/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09396413" name="Text 22"/>
          <p:cNvSpPr/>
          <p:nvPr/>
        </p:nvSpPr>
        <p:spPr bwMode="auto">
          <a:xfrm>
            <a:off x="3566160" y="19202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—</a:t>
            </a:r>
            <a:endParaRPr lang="en-US" sz="1000"/>
          </a:p>
        </p:txBody>
      </p:sp>
      <p:sp>
        <p:nvSpPr>
          <p:cNvPr id="2022940994" name="Shape 23"/>
          <p:cNvSpPr/>
          <p:nvPr/>
        </p:nvSpPr>
        <p:spPr bwMode="auto">
          <a:xfrm flipH="0" flipV="0">
            <a:off x="4370832" y="1920240"/>
            <a:ext cx="678677" cy="347471"/>
          </a:xfrm>
          <a:prstGeom prst="rect">
            <a:avLst/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584856582" name="Text 24"/>
          <p:cNvSpPr/>
          <p:nvPr/>
        </p:nvSpPr>
        <p:spPr bwMode="auto">
          <a:xfrm flipH="0" flipV="0">
            <a:off x="4370832" y="1920240"/>
            <a:ext cx="678677" cy="34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Cerrojo bloqueado</a:t>
            </a:r>
            <a:endParaRPr lang="en-US" sz="900"/>
          </a:p>
        </p:txBody>
      </p:sp>
      <p:sp>
        <p:nvSpPr>
          <p:cNvPr id="903126378" name="Shape 25"/>
          <p:cNvSpPr/>
          <p:nvPr/>
        </p:nvSpPr>
        <p:spPr bwMode="auto">
          <a:xfrm>
            <a:off x="347472" y="2304288"/>
            <a:ext cx="77724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9592377" name="Text 26"/>
          <p:cNvSpPr/>
          <p:nvPr/>
        </p:nvSpPr>
        <p:spPr bwMode="auto">
          <a:xfrm>
            <a:off x="347472" y="230428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000"/>
          </a:p>
        </p:txBody>
      </p:sp>
      <p:sp>
        <p:nvSpPr>
          <p:cNvPr id="143025433" name="Shape 27"/>
          <p:cNvSpPr/>
          <p:nvPr/>
        </p:nvSpPr>
        <p:spPr bwMode="auto">
          <a:xfrm>
            <a:off x="1152144" y="2304288"/>
            <a:ext cx="77724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297934724" name="Text 28"/>
          <p:cNvSpPr/>
          <p:nvPr/>
        </p:nvSpPr>
        <p:spPr bwMode="auto">
          <a:xfrm>
            <a:off x="1152144" y="230428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30–60%</a:t>
            </a:r>
            <a:endParaRPr lang="en-US" sz="1000"/>
          </a:p>
        </p:txBody>
      </p:sp>
      <p:sp>
        <p:nvSpPr>
          <p:cNvPr id="93911902" name="Shape 29"/>
          <p:cNvSpPr/>
          <p:nvPr/>
        </p:nvSpPr>
        <p:spPr bwMode="auto">
          <a:xfrm>
            <a:off x="1956816" y="2304288"/>
            <a:ext cx="77724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38499188" name="Text 30"/>
          <p:cNvSpPr/>
          <p:nvPr/>
        </p:nvSpPr>
        <p:spPr bwMode="auto">
          <a:xfrm>
            <a:off x="1956816" y="230428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000"/>
          </a:p>
        </p:txBody>
      </p:sp>
      <p:sp>
        <p:nvSpPr>
          <p:cNvPr id="653939853" name="Shape 31"/>
          <p:cNvSpPr/>
          <p:nvPr/>
        </p:nvSpPr>
        <p:spPr bwMode="auto">
          <a:xfrm>
            <a:off x="2761488" y="2304288"/>
            <a:ext cx="77724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59584581" name="Text 32"/>
          <p:cNvSpPr/>
          <p:nvPr/>
        </p:nvSpPr>
        <p:spPr bwMode="auto">
          <a:xfrm>
            <a:off x="2761488" y="230428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000"/>
          </a:p>
        </p:txBody>
      </p:sp>
      <p:sp>
        <p:nvSpPr>
          <p:cNvPr id="8946184" name="Shape 33"/>
          <p:cNvSpPr/>
          <p:nvPr/>
        </p:nvSpPr>
        <p:spPr bwMode="auto">
          <a:xfrm>
            <a:off x="3566160" y="2304288"/>
            <a:ext cx="77724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152574332" name="Text 34"/>
          <p:cNvSpPr/>
          <p:nvPr/>
        </p:nvSpPr>
        <p:spPr bwMode="auto">
          <a:xfrm>
            <a:off x="3566160" y="230428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—</a:t>
            </a:r>
            <a:endParaRPr lang="en-US" sz="1000"/>
          </a:p>
        </p:txBody>
      </p:sp>
      <p:sp>
        <p:nvSpPr>
          <p:cNvPr id="1707705117" name="Shape 35"/>
          <p:cNvSpPr/>
          <p:nvPr/>
        </p:nvSpPr>
        <p:spPr bwMode="auto">
          <a:xfrm flipH="0" flipV="0">
            <a:off x="4370832" y="2304288"/>
            <a:ext cx="678677" cy="347471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43665253" name="Text 36"/>
          <p:cNvSpPr/>
          <p:nvPr/>
        </p:nvSpPr>
        <p:spPr bwMode="auto">
          <a:xfrm flipH="0" flipV="0">
            <a:off x="4370832" y="2304288"/>
            <a:ext cx="678677" cy="34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Retenedor enganchado</a:t>
            </a:r>
            <a:endParaRPr lang="en-US" sz="900"/>
          </a:p>
        </p:txBody>
      </p:sp>
      <p:sp>
        <p:nvSpPr>
          <p:cNvPr id="1487212096" name="Shape 37"/>
          <p:cNvSpPr/>
          <p:nvPr/>
        </p:nvSpPr>
        <p:spPr bwMode="auto">
          <a:xfrm>
            <a:off x="347472" y="2688336"/>
            <a:ext cx="777240" cy="347472"/>
          </a:xfrm>
          <a:prstGeom prst="rect">
            <a:avLst/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576128915" name="Text 38"/>
          <p:cNvSpPr/>
          <p:nvPr/>
        </p:nvSpPr>
        <p:spPr bwMode="auto">
          <a:xfrm>
            <a:off x="347472" y="26883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000"/>
          </a:p>
        </p:txBody>
      </p:sp>
      <p:sp>
        <p:nvSpPr>
          <p:cNvPr id="874506895" name="Shape 39"/>
          <p:cNvSpPr/>
          <p:nvPr/>
        </p:nvSpPr>
        <p:spPr bwMode="auto">
          <a:xfrm>
            <a:off x="1152144" y="2688336"/>
            <a:ext cx="777240" cy="347472"/>
          </a:xfrm>
          <a:prstGeom prst="rect">
            <a:avLst/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398067179" name="Text 40"/>
          <p:cNvSpPr/>
          <p:nvPr/>
        </p:nvSpPr>
        <p:spPr bwMode="auto">
          <a:xfrm>
            <a:off x="1152144" y="26883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60–65%</a:t>
            </a:r>
            <a:endParaRPr lang="en-US" sz="1000"/>
          </a:p>
        </p:txBody>
      </p:sp>
      <p:sp>
        <p:nvSpPr>
          <p:cNvPr id="276007271" name="Shape 41"/>
          <p:cNvSpPr/>
          <p:nvPr/>
        </p:nvSpPr>
        <p:spPr bwMode="auto">
          <a:xfrm>
            <a:off x="1956816" y="2688336"/>
            <a:ext cx="777240" cy="347472"/>
          </a:xfrm>
          <a:prstGeom prst="rect">
            <a:avLst/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022460556" name="Text 42"/>
          <p:cNvSpPr/>
          <p:nvPr/>
        </p:nvSpPr>
        <p:spPr bwMode="auto">
          <a:xfrm>
            <a:off x="1956816" y="26883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—</a:t>
            </a:r>
            <a:endParaRPr lang="en-US" sz="1000"/>
          </a:p>
        </p:txBody>
      </p:sp>
      <p:sp>
        <p:nvSpPr>
          <p:cNvPr id="212164584" name="Shape 43"/>
          <p:cNvSpPr/>
          <p:nvPr/>
        </p:nvSpPr>
        <p:spPr bwMode="auto">
          <a:xfrm>
            <a:off x="2761488" y="2688336"/>
            <a:ext cx="777240" cy="347472"/>
          </a:xfrm>
          <a:prstGeom prst="rect">
            <a:avLst/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133891862" name="Text 44"/>
          <p:cNvSpPr/>
          <p:nvPr/>
        </p:nvSpPr>
        <p:spPr bwMode="auto">
          <a:xfrm>
            <a:off x="2761488" y="26883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—</a:t>
            </a:r>
            <a:endParaRPr lang="en-US" sz="1000"/>
          </a:p>
        </p:txBody>
      </p:sp>
      <p:sp>
        <p:nvSpPr>
          <p:cNvPr id="1081787758" name="Shape 45"/>
          <p:cNvSpPr/>
          <p:nvPr/>
        </p:nvSpPr>
        <p:spPr bwMode="auto">
          <a:xfrm>
            <a:off x="3566160" y="2688336"/>
            <a:ext cx="777240" cy="347472"/>
          </a:xfrm>
          <a:prstGeom prst="rect">
            <a:avLst/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513617818" name="Text 46"/>
          <p:cNvSpPr/>
          <p:nvPr/>
        </p:nvSpPr>
        <p:spPr bwMode="auto">
          <a:xfrm>
            <a:off x="3566160" y="26883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000"/>
          </a:p>
        </p:txBody>
      </p:sp>
      <p:sp>
        <p:nvSpPr>
          <p:cNvPr id="2071351461" name="Shape 47"/>
          <p:cNvSpPr/>
          <p:nvPr/>
        </p:nvSpPr>
        <p:spPr bwMode="auto">
          <a:xfrm flipH="0" flipV="0">
            <a:off x="4370832" y="2688336"/>
            <a:ext cx="678677" cy="347471"/>
          </a:xfrm>
          <a:prstGeom prst="rect">
            <a:avLst/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989031316" name="Text 48"/>
          <p:cNvSpPr/>
          <p:nvPr/>
        </p:nvSpPr>
        <p:spPr bwMode="auto">
          <a:xfrm flipH="0" flipV="0">
            <a:off x="4370832" y="2688336"/>
            <a:ext cx="678677" cy="34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Válvula de gas — DISPARO</a:t>
            </a:r>
            <a:endParaRPr lang="en-US" sz="900"/>
          </a:p>
        </p:txBody>
      </p:sp>
      <p:sp>
        <p:nvSpPr>
          <p:cNvPr id="1085836785" name="Shape 49"/>
          <p:cNvSpPr/>
          <p:nvPr/>
        </p:nvSpPr>
        <p:spPr bwMode="auto">
          <a:xfrm>
            <a:off x="347472" y="3072384"/>
            <a:ext cx="77724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084751244" name="Text 50"/>
          <p:cNvSpPr/>
          <p:nvPr/>
        </p:nvSpPr>
        <p:spPr bwMode="auto">
          <a:xfrm>
            <a:off x="347472" y="307238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000"/>
          </a:p>
        </p:txBody>
      </p:sp>
      <p:sp>
        <p:nvSpPr>
          <p:cNvPr id="1442244435" name="Shape 51"/>
          <p:cNvSpPr/>
          <p:nvPr/>
        </p:nvSpPr>
        <p:spPr bwMode="auto">
          <a:xfrm>
            <a:off x="1152144" y="3072384"/>
            <a:ext cx="77724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56316625" name="Text 52"/>
          <p:cNvSpPr/>
          <p:nvPr/>
        </p:nvSpPr>
        <p:spPr bwMode="auto">
          <a:xfrm>
            <a:off x="1152144" y="307238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65–100%</a:t>
            </a:r>
            <a:endParaRPr lang="en-US" sz="1000"/>
          </a:p>
        </p:txBody>
      </p:sp>
      <p:sp>
        <p:nvSpPr>
          <p:cNvPr id="1506656023" name="Shape 53"/>
          <p:cNvSpPr/>
          <p:nvPr/>
        </p:nvSpPr>
        <p:spPr bwMode="auto">
          <a:xfrm>
            <a:off x="1956816" y="3072384"/>
            <a:ext cx="77724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58249618" name="Text 54"/>
          <p:cNvSpPr/>
          <p:nvPr/>
        </p:nvSpPr>
        <p:spPr bwMode="auto">
          <a:xfrm>
            <a:off x="1956816" y="307238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—</a:t>
            </a:r>
            <a:endParaRPr lang="en-US" sz="1000"/>
          </a:p>
        </p:txBody>
      </p:sp>
      <p:sp>
        <p:nvSpPr>
          <p:cNvPr id="449878819" name="Shape 55"/>
          <p:cNvSpPr/>
          <p:nvPr/>
        </p:nvSpPr>
        <p:spPr bwMode="auto">
          <a:xfrm>
            <a:off x="2761488" y="3072384"/>
            <a:ext cx="77724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69903751" name="Text 56"/>
          <p:cNvSpPr/>
          <p:nvPr/>
        </p:nvSpPr>
        <p:spPr bwMode="auto">
          <a:xfrm>
            <a:off x="2761488" y="307238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—</a:t>
            </a:r>
            <a:endParaRPr lang="en-US" sz="1000"/>
          </a:p>
        </p:txBody>
      </p:sp>
      <p:sp>
        <p:nvSpPr>
          <p:cNvPr id="1365827576" name="Shape 57"/>
          <p:cNvSpPr/>
          <p:nvPr/>
        </p:nvSpPr>
        <p:spPr bwMode="auto">
          <a:xfrm>
            <a:off x="3566160" y="3072384"/>
            <a:ext cx="77724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076595843" name="Text 58"/>
          <p:cNvSpPr/>
          <p:nvPr/>
        </p:nvSpPr>
        <p:spPr bwMode="auto">
          <a:xfrm>
            <a:off x="3566160" y="307238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—</a:t>
            </a:r>
            <a:endParaRPr lang="en-US" sz="1000"/>
          </a:p>
        </p:txBody>
      </p:sp>
      <p:sp>
        <p:nvSpPr>
          <p:cNvPr id="148388891" name="Shape 59"/>
          <p:cNvSpPr/>
          <p:nvPr/>
        </p:nvSpPr>
        <p:spPr bwMode="auto">
          <a:xfrm flipH="0" flipV="0">
            <a:off x="4370832" y="3072384"/>
            <a:ext cx="678677" cy="347471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262177015" name="Text 60"/>
          <p:cNvSpPr/>
          <p:nvPr/>
        </p:nvSpPr>
        <p:spPr bwMode="auto">
          <a:xfrm flipH="0" flipV="0">
            <a:off x="4370832" y="3072384"/>
            <a:ext cx="678677" cy="34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Retorno / reposo</a:t>
            </a:r>
            <a:endParaRPr lang="en-US" sz="900"/>
          </a:p>
        </p:txBody>
      </p:sp>
      <p:sp>
        <p:nvSpPr>
          <p:cNvPr id="158288788" name="Shape 61"/>
          <p:cNvSpPr/>
          <p:nvPr/>
        </p:nvSpPr>
        <p:spPr bwMode="auto">
          <a:xfrm>
            <a:off x="5303520" y="1261872"/>
            <a:ext cx="3566160" cy="2926080"/>
          </a:xfrm>
          <a:prstGeom prst="rect">
            <a:avLst/>
          </a:prstGeom>
          <a:solidFill>
            <a:srgbClr val="1B2B4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58954043" name="Shape 62"/>
          <p:cNvSpPr/>
          <p:nvPr/>
        </p:nvSpPr>
        <p:spPr bwMode="auto">
          <a:xfrm>
            <a:off x="5303520" y="1261872"/>
            <a:ext cx="356616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14716536" name="Text 63"/>
          <p:cNvSpPr/>
          <p:nvPr/>
        </p:nvSpPr>
        <p:spPr bwMode="auto">
          <a:xfrm>
            <a:off x="5303520" y="12618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Señales IMU &amp; Encoders</a:t>
            </a:r>
            <a:endParaRPr lang="en-US" sz="1100"/>
          </a:p>
        </p:txBody>
      </p:sp>
      <p:sp>
        <p:nvSpPr>
          <p:cNvPr id="1665041487" name="Text 64"/>
          <p:cNvSpPr/>
          <p:nvPr/>
        </p:nvSpPr>
        <p:spPr bwMode="auto">
          <a:xfrm>
            <a:off x="5394960" y="16824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roll(t)</a:t>
            </a:r>
            <a:endParaRPr lang="en-US" sz="1000"/>
          </a:p>
        </p:txBody>
      </p:sp>
      <p:sp>
        <p:nvSpPr>
          <p:cNvPr id="1027716637" name="Text 65"/>
          <p:cNvSpPr/>
          <p:nvPr/>
        </p:nvSpPr>
        <p:spPr bwMode="auto">
          <a:xfrm>
            <a:off x="6400800" y="1682496"/>
            <a:ext cx="1508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= A·sin(2πf·t)</a:t>
            </a:r>
            <a:endParaRPr lang="en-US" sz="1000"/>
          </a:p>
        </p:txBody>
      </p:sp>
      <p:sp>
        <p:nvSpPr>
          <p:cNvPr id="883227354" name="Text 66"/>
          <p:cNvSpPr/>
          <p:nvPr/>
        </p:nvSpPr>
        <p:spPr bwMode="auto">
          <a:xfrm>
            <a:off x="5394960" y="19019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SIM_ROLL_AMP = 10°</a:t>
            </a:r>
            <a:endParaRPr lang="en-US" sz="900"/>
          </a:p>
        </p:txBody>
      </p:sp>
      <p:sp>
        <p:nvSpPr>
          <p:cNvPr id="1064992767" name="Text 67"/>
          <p:cNvSpPr/>
          <p:nvPr/>
        </p:nvSpPr>
        <p:spPr bwMode="auto">
          <a:xfrm>
            <a:off x="5394960" y="21214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pitch(t)</a:t>
            </a:r>
            <a:endParaRPr lang="en-US" sz="1000"/>
          </a:p>
        </p:txBody>
      </p:sp>
      <p:sp>
        <p:nvSpPr>
          <p:cNvPr id="1679546027" name="Text 68"/>
          <p:cNvSpPr/>
          <p:nvPr/>
        </p:nvSpPr>
        <p:spPr bwMode="auto">
          <a:xfrm>
            <a:off x="6400800" y="2121408"/>
            <a:ext cx="1508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= A·cos(2πf·t)</a:t>
            </a:r>
            <a:endParaRPr lang="en-US" sz="1000"/>
          </a:p>
        </p:txBody>
      </p:sp>
      <p:sp>
        <p:nvSpPr>
          <p:cNvPr id="1311061855" name="Text 69"/>
          <p:cNvSpPr/>
          <p:nvPr/>
        </p:nvSpPr>
        <p:spPr bwMode="auto">
          <a:xfrm>
            <a:off x="5394960" y="2340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SIM_PITCH_AMP = 8°</a:t>
            </a:r>
            <a:endParaRPr lang="en-US" sz="900"/>
          </a:p>
        </p:txBody>
      </p:sp>
      <p:sp>
        <p:nvSpPr>
          <p:cNvPr id="2100155333" name="Text 70"/>
          <p:cNvSpPr/>
          <p:nvPr/>
        </p:nvSpPr>
        <p:spPr bwMode="auto">
          <a:xfrm>
            <a:off x="5394960" y="25603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yaw(t)</a:t>
            </a:r>
            <a:endParaRPr lang="en-US" sz="1000"/>
          </a:p>
        </p:txBody>
      </p:sp>
      <p:sp>
        <p:nvSpPr>
          <p:cNvPr id="618752224" name="Text 71"/>
          <p:cNvSpPr/>
          <p:nvPr/>
        </p:nvSpPr>
        <p:spPr bwMode="auto">
          <a:xfrm>
            <a:off x="6400800" y="2560320"/>
            <a:ext cx="1508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= += YAW_DRIFT</a:t>
            </a:r>
            <a:endParaRPr lang="en-US" sz="1000"/>
          </a:p>
        </p:txBody>
      </p:sp>
      <p:sp>
        <p:nvSpPr>
          <p:cNvPr id="209904576" name="Text 72"/>
          <p:cNvSpPr/>
          <p:nvPr/>
        </p:nvSpPr>
        <p:spPr bwMode="auto">
          <a:xfrm>
            <a:off x="5394960" y="27797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0.04 Hz</a:t>
            </a:r>
            <a:endParaRPr lang="en-US" sz="900"/>
          </a:p>
        </p:txBody>
      </p:sp>
      <p:sp>
        <p:nvSpPr>
          <p:cNvPr id="724798674" name="Text 73"/>
          <p:cNvSpPr/>
          <p:nvPr/>
        </p:nvSpPr>
        <p:spPr bwMode="auto">
          <a:xfrm>
            <a:off x="5394960" y="29992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enc_h</a:t>
            </a:r>
            <a:endParaRPr lang="en-US" sz="1000"/>
          </a:p>
        </p:txBody>
      </p:sp>
      <p:sp>
        <p:nvSpPr>
          <p:cNvPr id="1214454037" name="Text 74"/>
          <p:cNvSpPr/>
          <p:nvPr/>
        </p:nvSpPr>
        <p:spPr bwMode="auto">
          <a:xfrm>
            <a:off x="6400800" y="2999232"/>
            <a:ext cx="1508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= += random_walk()</a:t>
            </a:r>
            <a:endParaRPr lang="en-US" sz="1000"/>
          </a:p>
        </p:txBody>
      </p:sp>
      <p:sp>
        <p:nvSpPr>
          <p:cNvPr id="1119678555" name="Text 75"/>
          <p:cNvSpPr/>
          <p:nvPr/>
        </p:nvSpPr>
        <p:spPr bwMode="auto">
          <a:xfrm>
            <a:off x="5394960" y="32186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±cuentas</a:t>
            </a:r>
            <a:endParaRPr lang="en-US" sz="900"/>
          </a:p>
        </p:txBody>
      </p:sp>
      <p:sp>
        <p:nvSpPr>
          <p:cNvPr id="1294246717" name="Text 76"/>
          <p:cNvSpPr/>
          <p:nvPr/>
        </p:nvSpPr>
        <p:spPr bwMode="auto">
          <a:xfrm>
            <a:off x="5394960" y="34381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enc_v</a:t>
            </a:r>
            <a:endParaRPr lang="en-US" sz="1000"/>
          </a:p>
        </p:txBody>
      </p:sp>
      <p:sp>
        <p:nvSpPr>
          <p:cNvPr id="932606102" name="Text 77"/>
          <p:cNvSpPr/>
          <p:nvPr/>
        </p:nvSpPr>
        <p:spPr bwMode="auto">
          <a:xfrm>
            <a:off x="6400800" y="3438144"/>
            <a:ext cx="1508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= += random_walk()</a:t>
            </a:r>
            <a:endParaRPr lang="en-US" sz="1000"/>
          </a:p>
        </p:txBody>
      </p:sp>
      <p:sp>
        <p:nvSpPr>
          <p:cNvPr id="1919890419" name="Text 78"/>
          <p:cNvSpPr/>
          <p:nvPr/>
        </p:nvSpPr>
        <p:spPr bwMode="auto">
          <a:xfrm>
            <a:off x="5394960" y="3657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±cuentas</a:t>
            </a:r>
            <a:endParaRPr lang="en-US" sz="900"/>
          </a:p>
        </p:txBody>
      </p:sp>
      <p:sp>
        <p:nvSpPr>
          <p:cNvPr id="1944913128" name="Shape 79"/>
          <p:cNvSpPr/>
          <p:nvPr/>
        </p:nvSpPr>
        <p:spPr bwMode="auto">
          <a:xfrm>
            <a:off x="274320" y="4315968"/>
            <a:ext cx="8595360" cy="585216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784276041" name="Text 80"/>
          <p:cNvSpPr/>
          <p:nvPr/>
        </p:nvSpPr>
        <p:spPr bwMode="auto">
          <a:xfrm>
            <a:off x="457200" y="4315968"/>
            <a:ext cx="832103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★  Algoritmo idéntico en firmware (Python) y en navegador (JavaScript) → Dashboard offline fiel al comportamiento real del hardware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108128" name="Shape 0"/>
          <p:cNvSpPr/>
          <p:nvPr/>
        </p:nvSpPr>
        <p:spPr bwMode="auto"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28006024" name="Text 1"/>
          <p:cNvSpPr/>
          <p:nvPr/>
        </p:nvSpPr>
        <p:spPr bwMode="auto">
          <a:xfrm flipH="0" flipV="0">
            <a:off x="457200" y="267462"/>
            <a:ext cx="35714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DESPLIEGUE Y ARRANQUE</a:t>
            </a:r>
            <a:endParaRPr lang="en-US" sz="2800"/>
          </a:p>
        </p:txBody>
      </p:sp>
      <p:sp>
        <p:nvSpPr>
          <p:cNvPr id="1751750707" name="Shape 3"/>
          <p:cNvSpPr/>
          <p:nvPr/>
        </p:nvSpPr>
        <p:spPr bwMode="auto">
          <a:xfrm>
            <a:off x="457200" y="111556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60664717" name="Shape 4"/>
          <p:cNvSpPr/>
          <p:nvPr/>
        </p:nvSpPr>
        <p:spPr bwMode="auto">
          <a:xfrm>
            <a:off x="256032" y="1261872"/>
            <a:ext cx="5029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904343951" name="Shape 5"/>
          <p:cNvSpPr/>
          <p:nvPr/>
        </p:nvSpPr>
        <p:spPr bwMode="auto">
          <a:xfrm>
            <a:off x="256032" y="1261872"/>
            <a:ext cx="475488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12307174" name="Text 6"/>
          <p:cNvSpPr/>
          <p:nvPr/>
        </p:nvSpPr>
        <p:spPr bwMode="auto">
          <a:xfrm>
            <a:off x="256032" y="1261872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500"/>
          </a:p>
        </p:txBody>
      </p:sp>
      <p:sp>
        <p:nvSpPr>
          <p:cNvPr id="1616904149" name="Text 7"/>
          <p:cNvSpPr/>
          <p:nvPr/>
        </p:nvSpPr>
        <p:spPr bwMode="auto">
          <a:xfrm>
            <a:off x="822960" y="1280160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Flash MicroPython USB</a:t>
            </a:r>
            <a:endParaRPr lang="en-US" sz="1100"/>
          </a:p>
        </p:txBody>
      </p:sp>
      <p:sp>
        <p:nvSpPr>
          <p:cNvPr id="1394142367" name="Text 8"/>
          <p:cNvSpPr/>
          <p:nvPr/>
        </p:nvSpPr>
        <p:spPr bwMode="auto">
          <a:xfrm>
            <a:off x="822960" y="151790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micropython.org/download/ESP32_GENERIC_S3/ - Usar variante con USB en el nombre</a:t>
            </a:r>
            <a:endParaRPr lang="en-US" sz="900"/>
          </a:p>
        </p:txBody>
      </p:sp>
      <p:sp>
        <p:nvSpPr>
          <p:cNvPr id="1934343632" name="Shape 9"/>
          <p:cNvSpPr/>
          <p:nvPr/>
        </p:nvSpPr>
        <p:spPr bwMode="auto">
          <a:xfrm>
            <a:off x="256032" y="1901952"/>
            <a:ext cx="5029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44501138" name="Shape 10"/>
          <p:cNvSpPr/>
          <p:nvPr/>
        </p:nvSpPr>
        <p:spPr bwMode="auto">
          <a:xfrm>
            <a:off x="256032" y="1901952"/>
            <a:ext cx="475488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993262" name="Text 11"/>
          <p:cNvSpPr/>
          <p:nvPr/>
        </p:nvSpPr>
        <p:spPr bwMode="auto">
          <a:xfrm>
            <a:off x="256032" y="1901952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500"/>
          </a:p>
        </p:txBody>
      </p:sp>
      <p:sp>
        <p:nvSpPr>
          <p:cNvPr id="1072683518" name="Text 12"/>
          <p:cNvSpPr/>
          <p:nvPr/>
        </p:nvSpPr>
        <p:spPr bwMode="auto">
          <a:xfrm>
            <a:off x="822960" y="1920240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Editar config.py</a:t>
            </a:r>
            <a:endParaRPr lang="en-US" sz="1100"/>
          </a:p>
        </p:txBody>
      </p:sp>
      <p:sp>
        <p:nvSpPr>
          <p:cNvPr id="685453584" name="Text 13"/>
          <p:cNvSpPr/>
          <p:nvPr/>
        </p:nvSpPr>
        <p:spPr bwMode="auto">
          <a:xfrm>
            <a:off x="822960" y="215798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WIFI_SSID / WIFI_PASSWORD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Pines GPIO · SIMULATE_SENSORS = False/True</a:t>
            </a:r>
            <a:endParaRPr lang="en-US" sz="900"/>
          </a:p>
        </p:txBody>
      </p:sp>
      <p:sp>
        <p:nvSpPr>
          <p:cNvPr id="70630245" name="Shape 14"/>
          <p:cNvSpPr/>
          <p:nvPr/>
        </p:nvSpPr>
        <p:spPr bwMode="auto">
          <a:xfrm>
            <a:off x="256032" y="2542032"/>
            <a:ext cx="5029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994286075" name="Shape 15"/>
          <p:cNvSpPr/>
          <p:nvPr/>
        </p:nvSpPr>
        <p:spPr bwMode="auto">
          <a:xfrm>
            <a:off x="256032" y="2542032"/>
            <a:ext cx="475488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63503835" name="Text 16"/>
          <p:cNvSpPr/>
          <p:nvPr/>
        </p:nvSpPr>
        <p:spPr bwMode="auto">
          <a:xfrm>
            <a:off x="256032" y="2542032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500"/>
          </a:p>
        </p:txBody>
      </p:sp>
      <p:sp>
        <p:nvSpPr>
          <p:cNvPr id="1079138544" name="Text 17"/>
          <p:cNvSpPr/>
          <p:nvPr/>
        </p:nvSpPr>
        <p:spPr bwMode="auto">
          <a:xfrm>
            <a:off x="822960" y="2560320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Subir archivos (Thonny / mpremote)</a:t>
            </a:r>
            <a:endParaRPr lang="en-US" sz="1100"/>
          </a:p>
        </p:txBody>
      </p:sp>
      <p:sp>
        <p:nvSpPr>
          <p:cNvPr id="115089437" name="Text 18"/>
          <p:cNvSpPr/>
          <p:nvPr/>
        </p:nvSpPr>
        <p:spPr bwMode="auto">
          <a:xfrm>
            <a:off x="822960" y="279806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boot.py · config.py · main.py · sensors.py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server.py · gy89_driver.py · hid_mouse.py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lib/usb/device/ · web/index.html · web/js/*.js</a:t>
            </a:r>
            <a:endParaRPr lang="en-US" sz="900"/>
          </a:p>
        </p:txBody>
      </p:sp>
      <p:sp>
        <p:nvSpPr>
          <p:cNvPr id="2004206147" name="Shape 19"/>
          <p:cNvSpPr/>
          <p:nvPr/>
        </p:nvSpPr>
        <p:spPr bwMode="auto">
          <a:xfrm>
            <a:off x="256032" y="3182112"/>
            <a:ext cx="5029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980570348" name="Shape 20"/>
          <p:cNvSpPr/>
          <p:nvPr/>
        </p:nvSpPr>
        <p:spPr bwMode="auto">
          <a:xfrm>
            <a:off x="256032" y="3182112"/>
            <a:ext cx="475488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61359673" name="Text 21"/>
          <p:cNvSpPr/>
          <p:nvPr/>
        </p:nvSpPr>
        <p:spPr bwMode="auto">
          <a:xfrm>
            <a:off x="256032" y="3182112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500"/>
          </a:p>
        </p:txBody>
      </p:sp>
      <p:sp>
        <p:nvSpPr>
          <p:cNvPr id="1578888549" name="Text 22"/>
          <p:cNvSpPr/>
          <p:nvPr/>
        </p:nvSpPr>
        <p:spPr bwMode="auto">
          <a:xfrm>
            <a:off x="822960" y="3200400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Resetear ESP32</a:t>
            </a:r>
            <a:endParaRPr lang="en-US" sz="1100"/>
          </a:p>
        </p:txBody>
      </p:sp>
      <p:sp>
        <p:nvSpPr>
          <p:cNvPr id="806876933" name="Text 23"/>
          <p:cNvSpPr/>
          <p:nvPr/>
        </p:nvSpPr>
        <p:spPr bwMode="auto">
          <a:xfrm>
            <a:off x="822960" y="343814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Ver IP en REPL: [WIFI] IP: 192.168.x.x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Fallback AP: 192.168.0.162 (M2-DAQ-SIM)</a:t>
            </a:r>
            <a:endParaRPr lang="en-US" sz="900"/>
          </a:p>
        </p:txBody>
      </p:sp>
      <p:sp>
        <p:nvSpPr>
          <p:cNvPr id="1082682943" name="Shape 24"/>
          <p:cNvSpPr/>
          <p:nvPr/>
        </p:nvSpPr>
        <p:spPr bwMode="auto">
          <a:xfrm>
            <a:off x="256032" y="3822192"/>
            <a:ext cx="5029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248417140" name="Shape 25"/>
          <p:cNvSpPr/>
          <p:nvPr/>
        </p:nvSpPr>
        <p:spPr bwMode="auto">
          <a:xfrm>
            <a:off x="256032" y="3822192"/>
            <a:ext cx="475488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9438263" name="Text 26"/>
          <p:cNvSpPr/>
          <p:nvPr/>
        </p:nvSpPr>
        <p:spPr bwMode="auto">
          <a:xfrm>
            <a:off x="256032" y="3822192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500"/>
          </a:p>
        </p:txBody>
      </p:sp>
      <p:sp>
        <p:nvSpPr>
          <p:cNvPr id="984694015" name="Text 27"/>
          <p:cNvSpPr/>
          <p:nvPr/>
        </p:nvSpPr>
        <p:spPr bwMode="auto">
          <a:xfrm>
            <a:off x="822960" y="3840480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Abrir http://&lt;IP&gt;</a:t>
            </a:r>
            <a:endParaRPr lang="en-US" sz="1100"/>
          </a:p>
        </p:txBody>
      </p:sp>
      <p:sp>
        <p:nvSpPr>
          <p:cNvPr id="1118011367" name="Text 28"/>
          <p:cNvSpPr/>
          <p:nvPr/>
        </p:nvSpPr>
        <p:spPr bwMode="auto">
          <a:xfrm>
            <a:off x="822960" y="407822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Barra estado: Conectado (verde)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Gauges animan · Plotly carga</a:t>
            </a:r>
            <a:endParaRPr lang="en-US" sz="900"/>
          </a:p>
        </p:txBody>
      </p:sp>
      <p:sp>
        <p:nvSpPr>
          <p:cNvPr id="1060140947" name="Shape 29"/>
          <p:cNvSpPr/>
          <p:nvPr/>
        </p:nvSpPr>
        <p:spPr bwMode="auto">
          <a:xfrm>
            <a:off x="5468112" y="1261872"/>
            <a:ext cx="3419856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622317864" name="Shape 30"/>
          <p:cNvSpPr/>
          <p:nvPr/>
        </p:nvSpPr>
        <p:spPr bwMode="auto">
          <a:xfrm>
            <a:off x="5468112" y="1261872"/>
            <a:ext cx="3419856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25487300" name="Text 31"/>
          <p:cNvSpPr/>
          <p:nvPr/>
        </p:nvSpPr>
        <p:spPr bwMode="auto">
          <a:xfrm>
            <a:off x="5468112" y="1261872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Flujo de arranque</a:t>
            </a:r>
            <a:endParaRPr lang="en-US" sz="1100"/>
          </a:p>
        </p:txBody>
      </p:sp>
      <p:sp>
        <p:nvSpPr>
          <p:cNvPr id="1960078506" name="Text 32"/>
          <p:cNvSpPr/>
          <p:nvPr/>
        </p:nvSpPr>
        <p:spPr bwMode="auto">
          <a:xfrm>
            <a:off x="5559552" y="166420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Power-on / Reset</a:t>
            </a:r>
            <a:endParaRPr lang="en-US" sz="950"/>
          </a:p>
        </p:txBody>
      </p:sp>
      <p:sp>
        <p:nvSpPr>
          <p:cNvPr id="1991456457" name="Text 33"/>
          <p:cNvSpPr/>
          <p:nvPr/>
        </p:nvSpPr>
        <p:spPr bwMode="auto">
          <a:xfrm>
            <a:off x="5559552" y="192024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boot.py</a:t>
            </a:r>
            <a:endParaRPr lang="en-US" sz="950"/>
          </a:p>
        </p:txBody>
      </p:sp>
      <p:sp>
        <p:nvSpPr>
          <p:cNvPr id="549646534" name="Text 34"/>
          <p:cNvSpPr/>
          <p:nvPr/>
        </p:nvSpPr>
        <p:spPr bwMode="auto">
          <a:xfrm>
            <a:off x="5559552" y="217627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240 MHz · osdebug(None) · WiFi off</a:t>
            </a:r>
            <a:endParaRPr lang="en-US" sz="950"/>
          </a:p>
        </p:txBody>
      </p:sp>
      <p:sp>
        <p:nvSpPr>
          <p:cNvPr id="904981446" name="Text 35"/>
          <p:cNvSpPr/>
          <p:nvPr/>
        </p:nvSpPr>
        <p:spPr bwMode="auto">
          <a:xfrm>
            <a:off x="5559552" y="2432303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main.py</a:t>
            </a:r>
            <a:endParaRPr lang="en-US" sz="950"/>
          </a:p>
        </p:txBody>
      </p:sp>
      <p:sp>
        <p:nvSpPr>
          <p:cNvPr id="1307107521" name="Text 36"/>
          <p:cNvSpPr/>
          <p:nvPr/>
        </p:nvSpPr>
        <p:spPr bwMode="auto">
          <a:xfrm>
            <a:off x="5559552" y="268833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3 s ventana Ctrl+C</a:t>
            </a:r>
            <a:endParaRPr lang="en-US" sz="950"/>
          </a:p>
        </p:txBody>
      </p:sp>
      <p:sp>
        <p:nvSpPr>
          <p:cNvPr id="151044746" name="Text 37"/>
          <p:cNvSpPr/>
          <p:nvPr/>
        </p:nvSpPr>
        <p:spPr bwMode="auto">
          <a:xfrm>
            <a:off x="5559552" y="294436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init_hid() → USB OTG</a:t>
            </a:r>
            <a:endParaRPr lang="en-US" sz="950"/>
          </a:p>
        </p:txBody>
      </p:sp>
      <p:sp>
        <p:nvSpPr>
          <p:cNvPr id="697024074" name="Text 38"/>
          <p:cNvSpPr/>
          <p:nvPr/>
        </p:nvSpPr>
        <p:spPr bwMode="auto">
          <a:xfrm>
            <a:off x="5559552" y="320040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connect_wifi()</a:t>
            </a:r>
            <a:endParaRPr lang="en-US" sz="950"/>
          </a:p>
        </p:txBody>
      </p:sp>
      <p:sp>
        <p:nvSpPr>
          <p:cNvPr id="1985162803" name="Text 39"/>
          <p:cNvSpPr/>
          <p:nvPr/>
        </p:nvSpPr>
        <p:spPr bwMode="auto">
          <a:xfrm>
            <a:off x="5559552" y="345643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STA OK → IP dinámica</a:t>
            </a:r>
            <a:endParaRPr lang="en-US" sz="950"/>
          </a:p>
        </p:txBody>
      </p:sp>
      <p:sp>
        <p:nvSpPr>
          <p:cNvPr id="891727106" name="Text 40"/>
          <p:cNvSpPr/>
          <p:nvPr/>
        </p:nvSpPr>
        <p:spPr bwMode="auto">
          <a:xfrm>
            <a:off x="5559552" y="371246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    Timeout → AP 192.168.0.162</a:t>
            </a:r>
            <a:endParaRPr lang="en-US" sz="950"/>
          </a:p>
        </p:txBody>
      </p:sp>
      <p:sp>
        <p:nvSpPr>
          <p:cNvPr id="1630965889" name="Text 41"/>
          <p:cNvSpPr/>
          <p:nvPr/>
        </p:nvSpPr>
        <p:spPr bwMode="auto">
          <a:xfrm>
            <a:off x="5559552" y="396849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asyncio.run(start_server())</a:t>
            </a:r>
            <a:endParaRPr lang="en-US" sz="950"/>
          </a:p>
        </p:txBody>
      </p:sp>
      <p:sp>
        <p:nvSpPr>
          <p:cNvPr id="997508242" name="Text 42"/>
          <p:cNvSpPr/>
          <p:nvPr/>
        </p:nvSpPr>
        <p:spPr bwMode="auto">
          <a:xfrm>
            <a:off x="5559552" y="422452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sensors.init()</a:t>
            </a:r>
            <a:endParaRPr lang="en-US" sz="950"/>
          </a:p>
        </p:txBody>
      </p:sp>
      <p:sp>
        <p:nvSpPr>
          <p:cNvPr id="847106391" name="Text 43"/>
          <p:cNvSpPr/>
          <p:nvPr/>
        </p:nvSpPr>
        <p:spPr bwMode="auto">
          <a:xfrm>
            <a:off x="5559552" y="448056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start_server(':80')</a:t>
            </a:r>
            <a:endParaRPr lang="en-US" sz="950"/>
          </a:p>
        </p:txBody>
      </p:sp>
      <p:sp>
        <p:nvSpPr>
          <p:cNvPr id="1723857021" name="Text 44"/>
          <p:cNvSpPr/>
          <p:nvPr/>
        </p:nvSpPr>
        <p:spPr bwMode="auto">
          <a:xfrm>
            <a:off x="5559552" y="473659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  _broadcast_loop 50 Hz ──►</a:t>
            </a:r>
            <a:endParaRPr lang="en-US" sz="950"/>
          </a:p>
        </p:txBody>
      </p:sp>
      <p:graphicFrame>
        <p:nvGraphicFramePr>
          <p:cNvPr id="906570410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028678" y="233172"/>
          <a:ext cx="5029200" cy="708659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286000"/>
                <a:gridCol w="2743200"/>
              </a:tblGrid>
              <a:tr h="18288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Situación (conexión)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URL del dashboard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0D9488"/>
                    </a:solidFill>
                  </a:tcPr>
                </a:tc>
              </a:tr>
              <a:tr h="18288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WiFi normal (STA)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onsolas"/>
                          <a:ea typeface="Consolas"/>
                          <a:cs typeface="Consolas"/>
                        </a:rPr>
                        <a:t>http://&lt;IP asignada por router&gt;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18288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Modo AP (sin red)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00">
                          <a:solidFill>
                            <a:srgbClr val="0D9488"/>
                          </a:solidFill>
                          <a:latin typeface="Consolas"/>
                          <a:ea typeface="Consolas"/>
                          <a:cs typeface="Consolas"/>
                        </a:rPr>
                        <a:t>http://192.168.0.162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M2.50 DAQ-UI</dc:title>
  <dc:subject>PptxGenJS Presentation</dc:subject>
  <dc:creator>PptxGenJS</dc:creator>
  <cp:lastModifiedBy/>
  <cp:revision>2</cp:revision>
  <dcterms:created xsi:type="dcterms:W3CDTF">2026-04-06T23:42:25Z</dcterms:created>
  <dcterms:modified xsi:type="dcterms:W3CDTF">2026-04-07T00:03:02Z</dcterms:modified>
</cp:coreProperties>
</file>